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0" r:id="rId4"/>
    <p:sldId id="272" r:id="rId5"/>
    <p:sldId id="273" r:id="rId6"/>
    <p:sldId id="264" r:id="rId7"/>
    <p:sldId id="285" r:id="rId8"/>
    <p:sldId id="282" r:id="rId9"/>
    <p:sldId id="283" r:id="rId10"/>
    <p:sldId id="284" r:id="rId11"/>
    <p:sldId id="265" r:id="rId12"/>
    <p:sldId id="266" r:id="rId13"/>
    <p:sldId id="267" r:id="rId14"/>
    <p:sldId id="268" r:id="rId15"/>
    <p:sldId id="269" r:id="rId16"/>
    <p:sldId id="271" r:id="rId17"/>
    <p:sldId id="286" r:id="rId18"/>
    <p:sldId id="287" r:id="rId19"/>
    <p:sldId id="288" r:id="rId20"/>
    <p:sldId id="289" r:id="rId21"/>
    <p:sldId id="290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XB4/aDiNVfJBvmZ46x6+ZhsAY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9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0940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2394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4997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cf6e6c90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1cf6e6c90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8206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cf6e6c90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1cf6e6c90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30831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1cf6e6c90e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31cf6e6c90e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9095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1188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3095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84845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078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33052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60330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cf6e6c9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1cf6e6c9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9081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2552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24324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73988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3428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E43BB09E-9689-4953-0D80-76858347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>
            <a:extLst>
              <a:ext uri="{FF2B5EF4-FFF2-40B4-BE49-F238E27FC236}">
                <a16:creationId xmlns:a16="http://schemas.microsoft.com/office/drawing/2014/main" id="{A095B256-857D-3792-1D77-3078FF02A5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>
            <a:extLst>
              <a:ext uri="{FF2B5EF4-FFF2-40B4-BE49-F238E27FC236}">
                <a16:creationId xmlns:a16="http://schemas.microsoft.com/office/drawing/2014/main" id="{D866FCD7-9305-4D8E-2019-461C8357C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61795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38D3AC27-3C6F-6132-1D58-ED065DB98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>
            <a:extLst>
              <a:ext uri="{FF2B5EF4-FFF2-40B4-BE49-F238E27FC236}">
                <a16:creationId xmlns:a16="http://schemas.microsoft.com/office/drawing/2014/main" id="{AFDBCB6D-1846-89D4-024F-0719CA5515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>
            <a:extLst>
              <a:ext uri="{FF2B5EF4-FFF2-40B4-BE49-F238E27FC236}">
                <a16:creationId xmlns:a16="http://schemas.microsoft.com/office/drawing/2014/main" id="{E814C9F0-9C7A-1FF6-08DB-F454A53B7E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579725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D75907F2-7EF4-A798-DBD3-CE6BBAD99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>
            <a:extLst>
              <a:ext uri="{FF2B5EF4-FFF2-40B4-BE49-F238E27FC236}">
                <a16:creationId xmlns:a16="http://schemas.microsoft.com/office/drawing/2014/main" id="{E741AF92-82E2-E556-E735-69BF8DC6E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>
            <a:extLst>
              <a:ext uri="{FF2B5EF4-FFF2-40B4-BE49-F238E27FC236}">
                <a16:creationId xmlns:a16="http://schemas.microsoft.com/office/drawing/2014/main" id="{C4BE3309-C7D7-F14B-6004-1FE84E7999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87131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34EB41F8-468F-F479-FE5C-21ED99E5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>
            <a:extLst>
              <a:ext uri="{FF2B5EF4-FFF2-40B4-BE49-F238E27FC236}">
                <a16:creationId xmlns:a16="http://schemas.microsoft.com/office/drawing/2014/main" id="{9687E7B0-817F-8201-AE7C-097F5D56AC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>
            <a:extLst>
              <a:ext uri="{FF2B5EF4-FFF2-40B4-BE49-F238E27FC236}">
                <a16:creationId xmlns:a16="http://schemas.microsoft.com/office/drawing/2014/main" id="{E6A95669-F837-E83D-0E88-C74D30C026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05053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>
          <a:extLst>
            <a:ext uri="{FF2B5EF4-FFF2-40B4-BE49-F238E27FC236}">
              <a16:creationId xmlns:a16="http://schemas.microsoft.com/office/drawing/2014/main" id="{A83C31EF-01FB-33D9-0B84-02BBD3844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:notes">
            <a:extLst>
              <a:ext uri="{FF2B5EF4-FFF2-40B4-BE49-F238E27FC236}">
                <a16:creationId xmlns:a16="http://schemas.microsoft.com/office/drawing/2014/main" id="{083825B4-CD9D-CFB3-3FB6-414E77AB9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9:notes">
            <a:extLst>
              <a:ext uri="{FF2B5EF4-FFF2-40B4-BE49-F238E27FC236}">
                <a16:creationId xmlns:a16="http://schemas.microsoft.com/office/drawing/2014/main" id="{7480E0EF-DF62-3091-090E-C57ED05F2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8173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375" y="-10100"/>
            <a:ext cx="12192000" cy="68580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0" y="0"/>
            <a:ext cx="12192000" cy="7315200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1524000" y="125523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>
                <a:solidFill>
                  <a:schemeClr val="lt1"/>
                </a:solidFill>
              </a:rPr>
              <a:t>Navigation App</a:t>
            </a:r>
            <a:endParaRPr dirty="0">
              <a:solidFill>
                <a:schemeClr val="lt1"/>
              </a:solidFill>
            </a:endParaRPr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1524000" y="3734905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>
                <a:solidFill>
                  <a:schemeClr val="lt1"/>
                </a:solidFill>
              </a:rPr>
              <a:t>Designing and Prototyping</a:t>
            </a:r>
            <a:endParaRPr dirty="0">
              <a:solidFill>
                <a:schemeClr val="lt1"/>
              </a:solidFill>
            </a:endParaRPr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2000450" y="2506830"/>
            <a:ext cx="8191099" cy="1925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2000450" y="4344682"/>
            <a:ext cx="8191099" cy="1925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3375" y="-10100"/>
            <a:ext cx="12192000" cy="6858000"/>
          </a:xfrm>
          <a:prstGeom prst="rect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chemeClr val="lt1"/>
                </a:solidFill>
              </a:rPr>
              <a:t>Overview</a:t>
            </a:r>
            <a:endParaRPr sz="28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357324" y="1790254"/>
            <a:ext cx="6065400" cy="1446925"/>
            <a:chOff x="408600" y="1491150"/>
            <a:chExt cx="6065400" cy="1446925"/>
          </a:xfrm>
        </p:grpSpPr>
        <p:sp>
          <p:nvSpPr>
            <p:cNvPr id="95" name="Google Shape;95;p2"/>
            <p:cNvSpPr/>
            <p:nvPr/>
          </p:nvSpPr>
          <p:spPr>
            <a:xfrm>
              <a:off x="551775" y="1738938"/>
              <a:ext cx="288000" cy="28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928325" y="149115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20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Our Navigation App</a:t>
              </a:r>
              <a:endParaRPr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408600" y="2042275"/>
              <a:ext cx="60654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lvl="0" indent="-3175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 mobile application designed to simplify navigation and travel planning with the help of syncing of work tools 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Focus on user-friendly design, accessibility, and seamless travel experience.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56887" y="3870354"/>
            <a:ext cx="5813400" cy="1405975"/>
            <a:chOff x="408163" y="3571250"/>
            <a:chExt cx="5813400" cy="1405975"/>
          </a:xfrm>
        </p:grpSpPr>
        <p:sp>
          <p:nvSpPr>
            <p:cNvPr id="97" name="Google Shape;97;p2"/>
            <p:cNvSpPr/>
            <p:nvPr/>
          </p:nvSpPr>
          <p:spPr>
            <a:xfrm>
              <a:off x="551775" y="3793776"/>
              <a:ext cx="288000" cy="28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927500" y="357125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20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Design Decisions and Guidelines</a:t>
              </a:r>
              <a:endParaRPr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408163" y="4081425"/>
              <a:ext cx="58134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marR="0" lvl="0" indent="-3175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Overview of the critical design decisions made throughout the project.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Explanation of the design guidelines and patterns followed.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How design principles shaped the app’s interface and functionality.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6575074" y="1792194"/>
            <a:ext cx="5346600" cy="1400475"/>
            <a:chOff x="6626350" y="1512900"/>
            <a:chExt cx="5346600" cy="1400475"/>
          </a:xfrm>
        </p:grpSpPr>
        <p:sp>
          <p:nvSpPr>
            <p:cNvPr id="101" name="Google Shape;101;p2"/>
            <p:cNvSpPr/>
            <p:nvPr/>
          </p:nvSpPr>
          <p:spPr>
            <a:xfrm>
              <a:off x="6779650" y="1760325"/>
              <a:ext cx="288000" cy="28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7146075" y="1512900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20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Design Process</a:t>
              </a:r>
              <a:endParaRPr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 txBox="1"/>
            <p:nvPr/>
          </p:nvSpPr>
          <p:spPr>
            <a:xfrm>
              <a:off x="6626350" y="2017575"/>
              <a:ext cx="53466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marR="0" lvl="0" indent="-3175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Journey from ideation to conceptualization.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Transition from low-fidelity sketches to high-fidelity prototypes.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Key milestones and iterations in the design process.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6575074" y="3876276"/>
            <a:ext cx="5346600" cy="1400053"/>
            <a:chOff x="6626350" y="3593422"/>
            <a:chExt cx="5346600" cy="1400053"/>
          </a:xfrm>
        </p:grpSpPr>
        <p:sp>
          <p:nvSpPr>
            <p:cNvPr id="104" name="Google Shape;104;p2"/>
            <p:cNvSpPr/>
            <p:nvPr/>
          </p:nvSpPr>
          <p:spPr>
            <a:xfrm>
              <a:off x="6779650" y="3828378"/>
              <a:ext cx="288000" cy="288000"/>
            </a:xfrm>
            <a:prstGeom prst="ellipse">
              <a:avLst/>
            </a:prstGeom>
            <a:solidFill>
              <a:schemeClr val="l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190500" dist="228600" dir="270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7146075" y="3593422"/>
              <a:ext cx="3000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1200"/>
                </a:spcBef>
                <a:spcAft>
                  <a:spcPts val="200"/>
                </a:spcAft>
                <a:buNone/>
              </a:pPr>
              <a:r>
                <a:rPr lang="en-US" sz="1600" b="1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User Testing</a:t>
              </a:r>
              <a:endParaRPr sz="16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6626350" y="4097675"/>
              <a:ext cx="5346600" cy="89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457200" marR="0" lvl="0" indent="-317500" algn="l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Insights gained from user testing sessions.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Summary of user feedback and its influence on the final design.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457200" marR="0" lvl="0" indent="-3175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Calibri"/>
                <a:buChar char="●"/>
              </a:pPr>
              <a:r>
                <a:rPr lang="en-US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Key improvements made based on testing results.</a:t>
              </a:r>
              <a:endParaRPr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Straight Connector 99"/>
          <p:cNvCxnSpPr/>
          <p:nvPr/>
        </p:nvCxnSpPr>
        <p:spPr>
          <a:xfrm>
            <a:off x="1308140" y="3325162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1337018" y="4512580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1308140" y="5724844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054738" y="2121372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125" name="Google Shape;125;g31cf6e6c90e_0_87"/>
          <p:cNvGrpSpPr/>
          <p:nvPr/>
        </p:nvGrpSpPr>
        <p:grpSpPr>
          <a:xfrm>
            <a:off x="622162" y="5079617"/>
            <a:ext cx="3845099" cy="1477297"/>
            <a:chOff x="305450" y="4624125"/>
            <a:chExt cx="3845100" cy="1389308"/>
          </a:xfrm>
        </p:grpSpPr>
        <p:sp>
          <p:nvSpPr>
            <p:cNvPr id="126" name="Google Shape;126;g31cf6e6c90e_0_87"/>
            <p:cNvSpPr/>
            <p:nvPr/>
          </p:nvSpPr>
          <p:spPr>
            <a:xfrm>
              <a:off x="305450" y="4684100"/>
              <a:ext cx="3845100" cy="12531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1cf6e6c90e_0_87"/>
            <p:cNvSpPr txBox="1"/>
            <p:nvPr/>
          </p:nvSpPr>
          <p:spPr>
            <a:xfrm>
              <a:off x="381700" y="4624125"/>
              <a:ext cx="3768850" cy="1389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4. </a:t>
              </a: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As a marketing analyst, I </a:t>
              </a:r>
              <a:r>
                <a:rPr lang="en-US" sz="1200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a navigation app with a simple, clear interface </a:t>
              </a: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that doesn’t distract me from my work.</a:t>
              </a:r>
              <a:b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200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This ensures that I can use it efficiently without complicated icons or unnecessary features. </a:t>
              </a:r>
              <a:r>
                <a:rPr lang="en-US" sz="1200" i="1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(Personality)</a:t>
              </a:r>
              <a:r>
                <a:rPr lang="en-US" sz="1200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This resolves my pain point around unclear iconography that complicates app use.</a:t>
              </a:r>
              <a:endParaRPr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</p:grpSp>
      <p:grpSp>
        <p:nvGrpSpPr>
          <p:cNvPr id="128" name="Google Shape;128;g31cf6e6c90e_0_87"/>
          <p:cNvGrpSpPr/>
          <p:nvPr/>
        </p:nvGrpSpPr>
        <p:grpSpPr>
          <a:xfrm>
            <a:off x="622163" y="2699758"/>
            <a:ext cx="3845100" cy="1292631"/>
            <a:chOff x="340350" y="2380032"/>
            <a:chExt cx="3845100" cy="1292631"/>
          </a:xfrm>
        </p:grpSpPr>
        <p:sp>
          <p:nvSpPr>
            <p:cNvPr id="129" name="Google Shape;129;g31cf6e6c90e_0_87"/>
            <p:cNvSpPr/>
            <p:nvPr/>
          </p:nvSpPr>
          <p:spPr>
            <a:xfrm>
              <a:off x="340350" y="2442550"/>
              <a:ext cx="3845100" cy="11295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g31cf6e6c90e_0_87"/>
            <p:cNvSpPr txBox="1"/>
            <p:nvPr/>
          </p:nvSpPr>
          <p:spPr>
            <a:xfrm>
              <a:off x="340350" y="2380032"/>
              <a:ext cx="3845098" cy="1292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2.  As a marketing analyst, I </a:t>
              </a:r>
              <a:r>
                <a:rPr lang="en-US" sz="1200" b="1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want a navigation app that highlights eco-friendly transit options, like walking routes, bike shares, or public transport</a:t>
              </a:r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allowing me to reduce my carbon footprint.</a:t>
              </a:r>
              <a:b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(Goal) To help avoid unreliable travel options and align with my desire for reliable, eco-friendly navigation.</a:t>
              </a: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22163" y="1490237"/>
            <a:ext cx="3845099" cy="1293000"/>
            <a:chOff x="280325" y="1326611"/>
            <a:chExt cx="3845099" cy="1293000"/>
          </a:xfrm>
        </p:grpSpPr>
        <p:sp>
          <p:nvSpPr>
            <p:cNvPr id="132" name="Google Shape;132;g31cf6e6c90e_0_87"/>
            <p:cNvSpPr/>
            <p:nvPr/>
          </p:nvSpPr>
          <p:spPr>
            <a:xfrm>
              <a:off x="280325" y="1410386"/>
              <a:ext cx="3845099" cy="11295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1cf6e6c90e_0_87"/>
            <p:cNvSpPr txBox="1"/>
            <p:nvPr/>
          </p:nvSpPr>
          <p:spPr>
            <a:xfrm>
              <a:off x="346642" y="1326611"/>
              <a:ext cx="3762600" cy="1293000"/>
            </a:xfrm>
            <a:prstGeom prst="rect">
              <a:avLst/>
            </a:prstGeom>
            <a:noFill/>
            <a:ln>
              <a:noFill/>
            </a:ln>
            <a:effectLst>
              <a:glow rad="127000">
                <a:schemeClr val="bg1"/>
              </a:glo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As a marketing analyst new to a city, I </a:t>
              </a:r>
              <a:r>
                <a:rPr lang="en-US" sz="1200" b="1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want a navigation app that provides real-time updates on traffic and transit routes </a:t>
              </a:r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 I can reach my meetings on time without needing to check multiple apps.</a:t>
              </a:r>
              <a:b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i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(Frustration)</a:t>
              </a: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Addressing my frustration with inconsistent app performance in dense urban areas.</a:t>
              </a:r>
              <a:endParaRPr sz="12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g31cf6e6c90e_0_87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</a:rPr>
              <a:t>Design Process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1cf6e6c90e_0_87"/>
          <p:cNvSpPr txBox="1"/>
          <p:nvPr/>
        </p:nvSpPr>
        <p:spPr>
          <a:xfrm>
            <a:off x="0" y="601088"/>
            <a:ext cx="12192000" cy="6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1cf6e6c90e_0_87"/>
          <p:cNvSpPr/>
          <p:nvPr/>
        </p:nvSpPr>
        <p:spPr>
          <a:xfrm>
            <a:off x="180000" y="561572"/>
            <a:ext cx="10104737" cy="51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g31cf6e6c90e_0_87"/>
          <p:cNvGrpSpPr/>
          <p:nvPr/>
        </p:nvGrpSpPr>
        <p:grpSpPr>
          <a:xfrm>
            <a:off x="622163" y="3867089"/>
            <a:ext cx="3845150" cy="1292631"/>
            <a:chOff x="346700" y="3454809"/>
            <a:chExt cx="3845150" cy="1292631"/>
          </a:xfrm>
        </p:grpSpPr>
        <p:sp>
          <p:nvSpPr>
            <p:cNvPr id="138" name="Google Shape;138;g31cf6e6c90e_0_87"/>
            <p:cNvSpPr/>
            <p:nvPr/>
          </p:nvSpPr>
          <p:spPr>
            <a:xfrm>
              <a:off x="346700" y="3535550"/>
              <a:ext cx="3845100" cy="11295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g31cf6e6c90e_0_87"/>
            <p:cNvSpPr txBox="1"/>
            <p:nvPr/>
          </p:nvSpPr>
          <p:spPr>
            <a:xfrm>
              <a:off x="346700" y="3454809"/>
              <a:ext cx="3845150" cy="12926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3. </a:t>
              </a: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As a marketing analyst, I </a:t>
              </a:r>
              <a:r>
                <a:rPr lang="en-US" sz="1200" b="1" dirty="0">
                  <a:solidFill>
                    <a:srgbClr val="00B05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want my navigation app to integrate seamlessly with my work tools</a:t>
              </a: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enabling me to quickly find and save locations related to my tasks without leaving the app.</a:t>
              </a:r>
              <a:b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n-US" sz="1200" i="1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(Frustration)</a:t>
              </a:r>
              <a:r>
                <a:rPr lang="en-US" sz="1200" dirty="0">
                  <a:solidFill>
                    <a:schemeClr val="dk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This reduces my frustration with the lack of integration between work and travel tools.</a:t>
              </a:r>
              <a:endParaRPr sz="12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180000" y="629274"/>
            <a:ext cx="48429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Progression from Ideation to Conceptualization and execution </a:t>
            </a:r>
            <a:endParaRPr lang="en-IN" dirty="0"/>
          </a:p>
        </p:txBody>
      </p:sp>
      <p:grpSp>
        <p:nvGrpSpPr>
          <p:cNvPr id="7" name="Group 6"/>
          <p:cNvGrpSpPr/>
          <p:nvPr/>
        </p:nvGrpSpPr>
        <p:grpSpPr>
          <a:xfrm>
            <a:off x="4534707" y="1801899"/>
            <a:ext cx="2482372" cy="669676"/>
            <a:chOff x="4303440" y="1636608"/>
            <a:chExt cx="2482372" cy="669676"/>
          </a:xfrm>
        </p:grpSpPr>
        <p:sp>
          <p:nvSpPr>
            <p:cNvPr id="27" name="Rectangle 26"/>
            <p:cNvSpPr/>
            <p:nvPr/>
          </p:nvSpPr>
          <p:spPr>
            <a:xfrm>
              <a:off x="4356853" y="1636608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303440" y="1742278"/>
              <a:ext cx="24823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provide real-time traffic updates and transit routes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34707" y="3013778"/>
            <a:ext cx="2482372" cy="669676"/>
            <a:chOff x="4206239" y="2909285"/>
            <a:chExt cx="2482372" cy="669676"/>
          </a:xfrm>
        </p:grpSpPr>
        <p:sp>
          <p:nvSpPr>
            <p:cNvPr id="26" name="Rectangle 25"/>
            <p:cNvSpPr/>
            <p:nvPr/>
          </p:nvSpPr>
          <p:spPr>
            <a:xfrm>
              <a:off x="4259652" y="2909285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06239" y="2913317"/>
              <a:ext cx="24823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provide eco-friendly travel options (bike, walking, or public transport)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34707" y="4199332"/>
            <a:ext cx="2482372" cy="669676"/>
            <a:chOff x="4303440" y="3988866"/>
            <a:chExt cx="2482372" cy="669676"/>
          </a:xfrm>
        </p:grpSpPr>
        <p:sp>
          <p:nvSpPr>
            <p:cNvPr id="25" name="Rectangle 24"/>
            <p:cNvSpPr/>
            <p:nvPr/>
          </p:nvSpPr>
          <p:spPr>
            <a:xfrm>
              <a:off x="4356853" y="3988866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303440" y="4079621"/>
              <a:ext cx="2482372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be able to Integrate seamlessly with industry work tools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534707" y="5422467"/>
            <a:ext cx="2482372" cy="669676"/>
            <a:chOff x="4303440" y="5324443"/>
            <a:chExt cx="2482372" cy="669676"/>
          </a:xfrm>
        </p:grpSpPr>
        <p:sp>
          <p:nvSpPr>
            <p:cNvPr id="6" name="Rectangle 5"/>
            <p:cNvSpPr/>
            <p:nvPr/>
          </p:nvSpPr>
          <p:spPr>
            <a:xfrm>
              <a:off x="4356853" y="5324443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303440" y="5328537"/>
              <a:ext cx="24823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have a concise and simplistic interface that is not too hard to navigate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070492" y="1801899"/>
            <a:ext cx="2482372" cy="669676"/>
            <a:chOff x="4303440" y="1636608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7" name="Rectangle 36"/>
            <p:cNvSpPr/>
            <p:nvPr/>
          </p:nvSpPr>
          <p:spPr>
            <a:xfrm>
              <a:off x="4356853" y="1636608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303440" y="1742278"/>
              <a:ext cx="2482372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Traffic Heat map</a:t>
              </a:r>
            </a:p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Transit Route Suggestions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070492" y="3013778"/>
            <a:ext cx="2482372" cy="669676"/>
            <a:chOff x="4206239" y="2909285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0" name="Rectangle 39"/>
            <p:cNvSpPr/>
            <p:nvPr/>
          </p:nvSpPr>
          <p:spPr>
            <a:xfrm>
              <a:off x="4259652" y="2909285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206239" y="3025077"/>
              <a:ext cx="2482372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/>
              <a:endPara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lvl="0" algn="ctr"/>
              <a:endPara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070492" y="4199332"/>
            <a:ext cx="2482372" cy="669676"/>
            <a:chOff x="4303440" y="3988866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3" name="Rectangle 42"/>
            <p:cNvSpPr/>
            <p:nvPr/>
          </p:nvSpPr>
          <p:spPr>
            <a:xfrm>
              <a:off x="4356853" y="3988866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303440" y="4079621"/>
              <a:ext cx="2482372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Work Tools Sync</a:t>
              </a:r>
            </a:p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Meeting Navigation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070492" y="5422467"/>
            <a:ext cx="2482372" cy="669676"/>
            <a:chOff x="4303440" y="5324443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6" name="Rectangle 45"/>
            <p:cNvSpPr/>
            <p:nvPr/>
          </p:nvSpPr>
          <p:spPr>
            <a:xfrm>
              <a:off x="4356853" y="5324443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03440" y="5429602"/>
              <a:ext cx="2482372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Minimalistic Design</a:t>
              </a:r>
            </a:p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Quick Access Widgets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385370" y="1801899"/>
            <a:ext cx="2482372" cy="751101"/>
            <a:chOff x="9388972" y="1556848"/>
            <a:chExt cx="2482372" cy="751101"/>
          </a:xfrm>
        </p:grpSpPr>
        <p:sp>
          <p:nvSpPr>
            <p:cNvPr id="14" name="Snip Single Corner Rectangle 13"/>
            <p:cNvSpPr/>
            <p:nvPr/>
          </p:nvSpPr>
          <p:spPr>
            <a:xfrm>
              <a:off x="9675843" y="1556848"/>
              <a:ext cx="1899920" cy="66967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51" name="Rectangle 50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Enroute page</a:t>
                </a:r>
              </a:p>
            </p:txBody>
          </p:sp>
        </p:grpSp>
      </p:grpSp>
      <p:grpSp>
        <p:nvGrpSpPr>
          <p:cNvPr id="2" name="Group 1"/>
          <p:cNvGrpSpPr/>
          <p:nvPr/>
        </p:nvGrpSpPr>
        <p:grpSpPr>
          <a:xfrm>
            <a:off x="-3188" y="1040937"/>
            <a:ext cx="12192000" cy="307778"/>
            <a:chOff x="-3188" y="1040937"/>
            <a:chExt cx="12192000" cy="307778"/>
          </a:xfrm>
        </p:grpSpPr>
        <p:sp>
          <p:nvSpPr>
            <p:cNvPr id="71" name="Google Shape;188;g31cf6e6c90e_0_0"/>
            <p:cNvSpPr txBox="1"/>
            <p:nvPr/>
          </p:nvSpPr>
          <p:spPr>
            <a:xfrm>
              <a:off x="-3188" y="1070989"/>
              <a:ext cx="12192000" cy="262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1869526" y="1040938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User Stories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5167918" y="1040937"/>
              <a:ext cx="123303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Requirements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905681" y="1040937"/>
              <a:ext cx="8290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Features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10322804" y="1040937"/>
              <a:ext cx="6158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Pages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Group 75"/>
          <p:cNvGrpSpPr/>
          <p:nvPr/>
        </p:nvGrpSpPr>
        <p:grpSpPr>
          <a:xfrm>
            <a:off x="9385370" y="3010815"/>
            <a:ext cx="2482372" cy="751101"/>
            <a:chOff x="9388972" y="1556848"/>
            <a:chExt cx="2482372" cy="751101"/>
          </a:xfrm>
        </p:grpSpPr>
        <p:sp>
          <p:nvSpPr>
            <p:cNvPr id="77" name="Snip Single Corner Rectangle 76"/>
            <p:cNvSpPr/>
            <p:nvPr/>
          </p:nvSpPr>
          <p:spPr>
            <a:xfrm>
              <a:off x="9675843" y="1556848"/>
              <a:ext cx="1899920" cy="65332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79" name="Rectangle 78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Onset destination page </a:t>
                </a:r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9385370" y="4199332"/>
            <a:ext cx="2482372" cy="751101"/>
            <a:chOff x="9388972" y="1556848"/>
            <a:chExt cx="2482372" cy="751101"/>
          </a:xfrm>
        </p:grpSpPr>
        <p:sp>
          <p:nvSpPr>
            <p:cNvPr id="82" name="Snip Single Corner Rectangle 81"/>
            <p:cNvSpPr/>
            <p:nvPr/>
          </p:nvSpPr>
          <p:spPr>
            <a:xfrm>
              <a:off x="9675843" y="1556848"/>
              <a:ext cx="1899920" cy="65332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84" name="Rectangle 83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Sidebar </a:t>
                </a:r>
              </a:p>
            </p:txBody>
          </p:sp>
        </p:grpSp>
      </p:grpSp>
      <p:grpSp>
        <p:nvGrpSpPr>
          <p:cNvPr id="86" name="Group 85"/>
          <p:cNvGrpSpPr/>
          <p:nvPr/>
        </p:nvGrpSpPr>
        <p:grpSpPr>
          <a:xfrm>
            <a:off x="9385370" y="5425921"/>
            <a:ext cx="2482372" cy="751101"/>
            <a:chOff x="9388972" y="1556848"/>
            <a:chExt cx="2482372" cy="751101"/>
          </a:xfrm>
        </p:grpSpPr>
        <p:sp>
          <p:nvSpPr>
            <p:cNvPr id="87" name="Snip Single Corner Rectangle 86"/>
            <p:cNvSpPr/>
            <p:nvPr/>
          </p:nvSpPr>
          <p:spPr>
            <a:xfrm>
              <a:off x="9675843" y="1556848"/>
              <a:ext cx="1899920" cy="65332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8" name="Group 87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89" name="Rectangle 88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Home page</a:t>
                </a:r>
              </a:p>
            </p:txBody>
          </p:sp>
        </p:grpSp>
      </p:grpSp>
      <p:sp>
        <p:nvSpPr>
          <p:cNvPr id="32" name="Rectangle 31"/>
          <p:cNvSpPr/>
          <p:nvPr/>
        </p:nvSpPr>
        <p:spPr>
          <a:xfrm>
            <a:off x="7437462" y="3194526"/>
            <a:ext cx="17876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Green Route Suggestions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0" name="Straight Connector 99"/>
          <p:cNvCxnSpPr/>
          <p:nvPr/>
        </p:nvCxnSpPr>
        <p:spPr>
          <a:xfrm>
            <a:off x="1248320" y="3835300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1277198" y="5513605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994918" y="2217623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128" name="Google Shape;128;g31cf6e6c90e_0_87"/>
          <p:cNvGrpSpPr/>
          <p:nvPr/>
        </p:nvGrpSpPr>
        <p:grpSpPr>
          <a:xfrm>
            <a:off x="551342" y="2963069"/>
            <a:ext cx="3893275" cy="2031296"/>
            <a:chOff x="340350" y="2411479"/>
            <a:chExt cx="3893275" cy="1220010"/>
          </a:xfrm>
        </p:grpSpPr>
        <p:sp>
          <p:nvSpPr>
            <p:cNvPr id="129" name="Google Shape;129;g31cf6e6c90e_0_87"/>
            <p:cNvSpPr/>
            <p:nvPr/>
          </p:nvSpPr>
          <p:spPr>
            <a:xfrm>
              <a:off x="340350" y="2442550"/>
              <a:ext cx="3845100" cy="11295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g31cf6e6c90e_0_87"/>
            <p:cNvSpPr txBox="1"/>
            <p:nvPr/>
          </p:nvSpPr>
          <p:spPr>
            <a:xfrm>
              <a:off x="388525" y="2411479"/>
              <a:ext cx="3845100" cy="12200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8. As a marketing analyst, frequent user of social media and travel-sharing platforms, I </a:t>
              </a:r>
              <a:r>
                <a:rPr lang="en-US" sz="1200" b="1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want an easy way to share my location or route with my friends and family</a:t>
              </a:r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so they know where I am during my travels.</a:t>
              </a:r>
              <a:b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(Attribute) This allows for seamless location sharing without needing multiple apps, which improves the app's integration with her lifestyle.</a:t>
              </a:r>
            </a:p>
            <a:p>
              <a:pPr lvl="0"/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(Goal) This helps me minimize time spent coordinating travel and work needs separately, addressing my desire for integration between work and navigation tools.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62343" y="1586488"/>
            <a:ext cx="3845099" cy="1661963"/>
            <a:chOff x="280325" y="1326611"/>
            <a:chExt cx="3845099" cy="1472593"/>
          </a:xfrm>
        </p:grpSpPr>
        <p:sp>
          <p:nvSpPr>
            <p:cNvPr id="132" name="Google Shape;132;g31cf6e6c90e_0_87"/>
            <p:cNvSpPr/>
            <p:nvPr/>
          </p:nvSpPr>
          <p:spPr>
            <a:xfrm>
              <a:off x="280325" y="1410386"/>
              <a:ext cx="3845099" cy="11295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1cf6e6c90e_0_87"/>
            <p:cNvSpPr txBox="1"/>
            <p:nvPr/>
          </p:nvSpPr>
          <p:spPr>
            <a:xfrm>
              <a:off x="346642" y="1326611"/>
              <a:ext cx="3762600" cy="1472593"/>
            </a:xfrm>
            <a:prstGeom prst="rect">
              <a:avLst/>
            </a:prstGeom>
            <a:noFill/>
            <a:ln>
              <a:noFill/>
            </a:ln>
            <a:effectLst>
              <a:glow rad="127000">
                <a:schemeClr val="bg1"/>
              </a:glo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6. As a marketing analyst, I </a:t>
              </a:r>
              <a:r>
                <a:rPr lang="en-US" sz="1200" b="1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want a navigation app to remember frequent destinations and suggest quick routes based on my past preferences.</a:t>
              </a:r>
              <a:b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This will make it faster to get directions for my regular work locations. (Personality) This will minimize setup time, addressing my frustration with spending too much time setting up navigation.</a:t>
              </a: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4" name="Google Shape;134;g31cf6e6c90e_0_87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</a:rPr>
              <a:t>Design Process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1cf6e6c90e_0_87"/>
          <p:cNvSpPr txBox="1"/>
          <p:nvPr/>
        </p:nvSpPr>
        <p:spPr>
          <a:xfrm>
            <a:off x="0" y="601088"/>
            <a:ext cx="12192000" cy="6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1cf6e6c90e_0_87"/>
          <p:cNvSpPr/>
          <p:nvPr/>
        </p:nvSpPr>
        <p:spPr>
          <a:xfrm>
            <a:off x="180000" y="561572"/>
            <a:ext cx="10104737" cy="51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g31cf6e6c90e_0_87"/>
          <p:cNvGrpSpPr/>
          <p:nvPr/>
        </p:nvGrpSpPr>
        <p:grpSpPr>
          <a:xfrm>
            <a:off x="562343" y="4887898"/>
            <a:ext cx="3845150" cy="1661964"/>
            <a:chOff x="346700" y="3474720"/>
            <a:chExt cx="3845150" cy="1447384"/>
          </a:xfrm>
        </p:grpSpPr>
        <p:sp>
          <p:nvSpPr>
            <p:cNvPr id="138" name="Google Shape;138;g31cf6e6c90e_0_87"/>
            <p:cNvSpPr/>
            <p:nvPr/>
          </p:nvSpPr>
          <p:spPr>
            <a:xfrm>
              <a:off x="346700" y="3535550"/>
              <a:ext cx="3845100" cy="11295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7030A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g31cf6e6c90e_0_87"/>
            <p:cNvSpPr txBox="1"/>
            <p:nvPr/>
          </p:nvSpPr>
          <p:spPr>
            <a:xfrm>
              <a:off x="383874" y="3474720"/>
              <a:ext cx="3807976" cy="14473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10.As a marketing analyst frustrated by the lack of integration between apps, I </a:t>
              </a:r>
              <a:r>
                <a:rPr lang="en-US" sz="1200" b="1" dirty="0">
                  <a:solidFill>
                    <a:srgbClr val="00B050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want a navigation app to sync with my calendar</a:t>
              </a: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 so that travel time and routes to my meetings are automatically suggested, minimizing time spent on setup.</a:t>
              </a:r>
              <a:b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</a:br>
              <a:r>
                <a:rPr lang="en-US" sz="1200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(Frustration) This directly resolves inefficiencies in my workflow.</a:t>
              </a:r>
              <a:br>
                <a:rPr lang="en-US" sz="1200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</a:br>
              <a:endParaRPr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180000" y="629274"/>
            <a:ext cx="48429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Progression from Ideation to Conceptualization and execution </a:t>
            </a:r>
            <a:endParaRPr lang="en-IN" dirty="0"/>
          </a:p>
        </p:txBody>
      </p:sp>
      <p:grpSp>
        <p:nvGrpSpPr>
          <p:cNvPr id="7" name="Group 6"/>
          <p:cNvGrpSpPr/>
          <p:nvPr/>
        </p:nvGrpSpPr>
        <p:grpSpPr>
          <a:xfrm>
            <a:off x="4474887" y="1898150"/>
            <a:ext cx="2482372" cy="669676"/>
            <a:chOff x="4303440" y="1636608"/>
            <a:chExt cx="2482372" cy="669676"/>
          </a:xfrm>
        </p:grpSpPr>
        <p:sp>
          <p:nvSpPr>
            <p:cNvPr id="27" name="Rectangle 26"/>
            <p:cNvSpPr/>
            <p:nvPr/>
          </p:nvSpPr>
          <p:spPr>
            <a:xfrm>
              <a:off x="4356853" y="1636608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050" dirty="0"/>
                <a:t>App should provide a list of recent destinations visited and favourite places.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303440" y="1742278"/>
              <a:ext cx="2482372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endParaRPr lang="en-US" sz="12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474887" y="3523916"/>
            <a:ext cx="2482372" cy="669676"/>
            <a:chOff x="4206239" y="2909285"/>
            <a:chExt cx="2482372" cy="669676"/>
          </a:xfrm>
        </p:grpSpPr>
        <p:sp>
          <p:nvSpPr>
            <p:cNvPr id="26" name="Rectangle 25"/>
            <p:cNvSpPr/>
            <p:nvPr/>
          </p:nvSpPr>
          <p:spPr>
            <a:xfrm>
              <a:off x="4259652" y="2909285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06239" y="2913317"/>
              <a:ext cx="24823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be able to share their location with chosen individuals such as friends or family.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474887" y="5200357"/>
            <a:ext cx="2482372" cy="669711"/>
            <a:chOff x="4303440" y="3988866"/>
            <a:chExt cx="2482372" cy="669711"/>
          </a:xfrm>
        </p:grpSpPr>
        <p:sp>
          <p:nvSpPr>
            <p:cNvPr id="25" name="Rectangle 24"/>
            <p:cNvSpPr/>
            <p:nvPr/>
          </p:nvSpPr>
          <p:spPr>
            <a:xfrm>
              <a:off x="4356853" y="3988866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303440" y="4012246"/>
              <a:ext cx="24823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be able to sync with calendar for real-time updates for meetings and emails.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010672" y="1898150"/>
            <a:ext cx="2482372" cy="669676"/>
            <a:chOff x="4303440" y="1636608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7" name="Rectangle 36"/>
            <p:cNvSpPr/>
            <p:nvPr/>
          </p:nvSpPr>
          <p:spPr>
            <a:xfrm>
              <a:off x="4356853" y="1636608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303440" y="1742278"/>
              <a:ext cx="2482372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Recent places</a:t>
              </a:r>
            </a:p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Favorites  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010672" y="3523916"/>
            <a:ext cx="2482372" cy="669676"/>
            <a:chOff x="4206239" y="2909285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0" name="Rectangle 39"/>
            <p:cNvSpPr/>
            <p:nvPr/>
          </p:nvSpPr>
          <p:spPr>
            <a:xfrm>
              <a:off x="4259652" y="2909285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206239" y="3015452"/>
              <a:ext cx="2482372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/>
              <a:endPara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lvl="0" algn="ctr"/>
              <a:endPara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010672" y="5200357"/>
            <a:ext cx="2482372" cy="669676"/>
            <a:chOff x="4303440" y="3988866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3" name="Rectangle 42"/>
            <p:cNvSpPr/>
            <p:nvPr/>
          </p:nvSpPr>
          <p:spPr>
            <a:xfrm>
              <a:off x="4356853" y="3988866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303440" y="4079621"/>
              <a:ext cx="2482372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Calendar Integration</a:t>
              </a:r>
            </a:p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Email Integration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325550" y="1898150"/>
            <a:ext cx="2482372" cy="751101"/>
            <a:chOff x="9388972" y="1556848"/>
            <a:chExt cx="2482372" cy="751101"/>
          </a:xfrm>
        </p:grpSpPr>
        <p:sp>
          <p:nvSpPr>
            <p:cNvPr id="14" name="Snip Single Corner Rectangle 13"/>
            <p:cNvSpPr/>
            <p:nvPr/>
          </p:nvSpPr>
          <p:spPr>
            <a:xfrm>
              <a:off x="9675843" y="1556848"/>
              <a:ext cx="1899920" cy="66967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51" name="Rectangle 50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Search page</a:t>
                </a:r>
              </a:p>
            </p:txBody>
          </p:sp>
        </p:grpSp>
      </p:grpSp>
      <p:grpSp>
        <p:nvGrpSpPr>
          <p:cNvPr id="76" name="Group 75"/>
          <p:cNvGrpSpPr/>
          <p:nvPr/>
        </p:nvGrpSpPr>
        <p:grpSpPr>
          <a:xfrm>
            <a:off x="9325550" y="3520953"/>
            <a:ext cx="2482372" cy="751101"/>
            <a:chOff x="9388972" y="1556848"/>
            <a:chExt cx="2482372" cy="751101"/>
          </a:xfrm>
        </p:grpSpPr>
        <p:sp>
          <p:nvSpPr>
            <p:cNvPr id="77" name="Snip Single Corner Rectangle 76"/>
            <p:cNvSpPr/>
            <p:nvPr/>
          </p:nvSpPr>
          <p:spPr>
            <a:xfrm>
              <a:off x="9675843" y="1556848"/>
              <a:ext cx="1899920" cy="65332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Sidebar</a:t>
              </a:r>
              <a:endParaRPr lang="en-IN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79" name="Rectangle 78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endParaRPr 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9325550" y="5200357"/>
            <a:ext cx="2482372" cy="751101"/>
            <a:chOff x="9388972" y="1556848"/>
            <a:chExt cx="2482372" cy="751101"/>
          </a:xfrm>
        </p:grpSpPr>
        <p:sp>
          <p:nvSpPr>
            <p:cNvPr id="82" name="Snip Single Corner Rectangle 81"/>
            <p:cNvSpPr/>
            <p:nvPr/>
          </p:nvSpPr>
          <p:spPr>
            <a:xfrm>
              <a:off x="9675843" y="1556848"/>
              <a:ext cx="1899920" cy="65332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84" name="Rectangle 83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Sidebar </a:t>
                </a:r>
              </a:p>
            </p:txBody>
          </p:sp>
        </p:grpSp>
      </p:grpSp>
      <p:sp>
        <p:nvSpPr>
          <p:cNvPr id="32" name="Rectangle 31"/>
          <p:cNvSpPr/>
          <p:nvPr/>
        </p:nvSpPr>
        <p:spPr>
          <a:xfrm>
            <a:off x="7490135" y="3615714"/>
            <a:ext cx="1535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Live Location Sharing</a:t>
            </a:r>
          </a:p>
          <a:p>
            <a:pPr algn="ctr"/>
            <a:endParaRPr lang="en-IN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2" name="Group 91"/>
          <p:cNvGrpSpPr/>
          <p:nvPr/>
        </p:nvGrpSpPr>
        <p:grpSpPr>
          <a:xfrm>
            <a:off x="-3188" y="1040937"/>
            <a:ext cx="12192000" cy="307778"/>
            <a:chOff x="-3188" y="1040937"/>
            <a:chExt cx="12192000" cy="307778"/>
          </a:xfrm>
        </p:grpSpPr>
        <p:sp>
          <p:nvSpPr>
            <p:cNvPr id="93" name="Google Shape;188;g31cf6e6c90e_0_0"/>
            <p:cNvSpPr txBox="1"/>
            <p:nvPr/>
          </p:nvSpPr>
          <p:spPr>
            <a:xfrm>
              <a:off x="-3188" y="1070989"/>
              <a:ext cx="12192000" cy="262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869526" y="1040938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User Stories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5167918" y="1040937"/>
              <a:ext cx="123303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Requirements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7905681" y="1040937"/>
              <a:ext cx="8290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Features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0322804" y="1040937"/>
              <a:ext cx="6158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Pages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898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1046194" y="2130996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7058321" y="1909510"/>
            <a:ext cx="2482372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0"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2" name="Straight Connector 101"/>
          <p:cNvCxnSpPr/>
          <p:nvPr/>
        </p:nvCxnSpPr>
        <p:spPr>
          <a:xfrm>
            <a:off x="1299596" y="5917352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7044071" y="5714003"/>
            <a:ext cx="2482372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0"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1" name="Straight Connector 100"/>
          <p:cNvCxnSpPr/>
          <p:nvPr/>
        </p:nvCxnSpPr>
        <p:spPr>
          <a:xfrm>
            <a:off x="1328474" y="4618461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7044071" y="4398594"/>
            <a:ext cx="2482372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lvl="0"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algn="ctr"/>
            <a:endParaRPr lang="en-US" sz="12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00" name="Straight Connector 99"/>
          <p:cNvCxnSpPr/>
          <p:nvPr/>
        </p:nvCxnSpPr>
        <p:spPr>
          <a:xfrm>
            <a:off x="1299596" y="3334786"/>
            <a:ext cx="1025302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grpSp>
        <p:nvGrpSpPr>
          <p:cNvPr id="125" name="Google Shape;125;g31cf6e6c90e_0_87"/>
          <p:cNvGrpSpPr/>
          <p:nvPr/>
        </p:nvGrpSpPr>
        <p:grpSpPr>
          <a:xfrm>
            <a:off x="613618" y="5272125"/>
            <a:ext cx="3845099" cy="1396236"/>
            <a:chOff x="305450" y="4624125"/>
            <a:chExt cx="3845100" cy="1313075"/>
          </a:xfrm>
        </p:grpSpPr>
        <p:sp>
          <p:nvSpPr>
            <p:cNvPr id="126" name="Google Shape;126;g31cf6e6c90e_0_87"/>
            <p:cNvSpPr/>
            <p:nvPr/>
          </p:nvSpPr>
          <p:spPr>
            <a:xfrm>
              <a:off x="305450" y="4684100"/>
              <a:ext cx="3845100" cy="12531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1cf6e6c90e_0_87"/>
            <p:cNvSpPr txBox="1"/>
            <p:nvPr/>
          </p:nvSpPr>
          <p:spPr>
            <a:xfrm>
              <a:off x="381700" y="4624125"/>
              <a:ext cx="3768850" cy="12156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5. As a farm operator I </a:t>
              </a:r>
              <a:r>
                <a:rPr lang="en-US" sz="1200" b="1" dirty="0">
                  <a:solidFill>
                    <a:srgbClr val="00B050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want the ability to control what information I receive </a:t>
              </a: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so that I only get updates on things that are important to me without sharing unnecessary data with the app.</a:t>
              </a:r>
              <a:b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</a:br>
              <a:r>
                <a:rPr lang="en-US" sz="1200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(Goal) Only receive essential notifications without the app accessing excessive data.</a:t>
              </a:r>
              <a:endParaRPr sz="12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endParaRPr>
            </a:p>
          </p:txBody>
        </p:sp>
      </p:grpSp>
      <p:grpSp>
        <p:nvGrpSpPr>
          <p:cNvPr id="128" name="Google Shape;128;g31cf6e6c90e_0_87"/>
          <p:cNvGrpSpPr/>
          <p:nvPr/>
        </p:nvGrpSpPr>
        <p:grpSpPr>
          <a:xfrm>
            <a:off x="613619" y="2709383"/>
            <a:ext cx="3845100" cy="1477297"/>
            <a:chOff x="340350" y="2380033"/>
            <a:chExt cx="3845100" cy="1477297"/>
          </a:xfrm>
        </p:grpSpPr>
        <p:sp>
          <p:nvSpPr>
            <p:cNvPr id="129" name="Google Shape;129;g31cf6e6c90e_0_87"/>
            <p:cNvSpPr/>
            <p:nvPr/>
          </p:nvSpPr>
          <p:spPr>
            <a:xfrm>
              <a:off x="340350" y="2442550"/>
              <a:ext cx="3845100" cy="11295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g31cf6e6c90e_0_87"/>
            <p:cNvSpPr txBox="1"/>
            <p:nvPr/>
          </p:nvSpPr>
          <p:spPr>
            <a:xfrm>
              <a:off x="406668" y="2380033"/>
              <a:ext cx="3778780" cy="14772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3. As a farm operator who is familiar with my local area, I </a:t>
              </a:r>
              <a:r>
                <a:rPr lang="en-US" sz="1200" b="1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want to verify the accuracy of route offline to avoid needing to rely on online services, especially in areas with poor connectivity.</a:t>
              </a:r>
            </a:p>
            <a:p>
              <a:pPr lvl="0"/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(Goal) Verify routes independently without needing constant online access.</a:t>
              </a:r>
              <a:b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endParaRPr sz="1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613619" y="1499861"/>
            <a:ext cx="3845099" cy="1293000"/>
            <a:chOff x="280325" y="1326611"/>
            <a:chExt cx="3845099" cy="1293000"/>
          </a:xfrm>
        </p:grpSpPr>
        <p:sp>
          <p:nvSpPr>
            <p:cNvPr id="132" name="Google Shape;132;g31cf6e6c90e_0_87"/>
            <p:cNvSpPr/>
            <p:nvPr/>
          </p:nvSpPr>
          <p:spPr>
            <a:xfrm>
              <a:off x="280325" y="1410386"/>
              <a:ext cx="3845099" cy="1129500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1cf6e6c90e_0_87"/>
            <p:cNvSpPr txBox="1"/>
            <p:nvPr/>
          </p:nvSpPr>
          <p:spPr>
            <a:xfrm>
              <a:off x="346642" y="1326611"/>
              <a:ext cx="3762600" cy="1293000"/>
            </a:xfrm>
            <a:prstGeom prst="rect">
              <a:avLst/>
            </a:prstGeom>
            <a:noFill/>
            <a:ln>
              <a:noFill/>
            </a:ln>
            <a:effectLst>
              <a:glow rad="127000">
                <a:schemeClr val="bg1"/>
              </a:glow>
            </a:effectLst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1. As a farm operator I value privacy, I </a:t>
              </a:r>
              <a:r>
                <a:rPr lang="en-US" sz="1200" b="1" dirty="0">
                  <a:solidFill>
                    <a:srgbClr val="00B050"/>
                  </a:solidFill>
                  <a:latin typeface="Calibri"/>
                  <a:ea typeface="Calibri"/>
                  <a:cs typeface="Calibri"/>
                  <a:sym typeface="Calibri"/>
                </a:rPr>
                <a:t>want a navigation app that doesn’t track or store my location data</a:t>
              </a:r>
              <a: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so that I can feel secure using it without worrying about my location information being shared.</a:t>
              </a:r>
              <a:br>
                <a:rPr lang="en-US" sz="12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2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(Personality) Steady, privacy-focused, and distrustful of unnecessary data collection.</a:t>
              </a:r>
            </a:p>
          </p:txBody>
        </p:sp>
      </p:grpSp>
      <p:sp>
        <p:nvSpPr>
          <p:cNvPr id="134" name="Google Shape;134;g31cf6e6c90e_0_87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</a:rPr>
              <a:t>Design Process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1cf6e6c90e_0_87"/>
          <p:cNvSpPr txBox="1"/>
          <p:nvPr/>
        </p:nvSpPr>
        <p:spPr>
          <a:xfrm>
            <a:off x="0" y="601088"/>
            <a:ext cx="12192000" cy="6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1cf6e6c90e_0_87"/>
          <p:cNvSpPr/>
          <p:nvPr/>
        </p:nvSpPr>
        <p:spPr>
          <a:xfrm>
            <a:off x="180000" y="561572"/>
            <a:ext cx="10104737" cy="512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" name="Google Shape;137;g31cf6e6c90e_0_87"/>
          <p:cNvGrpSpPr/>
          <p:nvPr/>
        </p:nvGrpSpPr>
        <p:grpSpPr>
          <a:xfrm>
            <a:off x="613619" y="3897673"/>
            <a:ext cx="3845150" cy="1477297"/>
            <a:chOff x="346700" y="3475769"/>
            <a:chExt cx="3845150" cy="1477297"/>
          </a:xfrm>
        </p:grpSpPr>
        <p:sp>
          <p:nvSpPr>
            <p:cNvPr id="138" name="Google Shape;138;g31cf6e6c90e_0_87"/>
            <p:cNvSpPr/>
            <p:nvPr/>
          </p:nvSpPr>
          <p:spPr>
            <a:xfrm>
              <a:off x="346700" y="3535549"/>
              <a:ext cx="3845100" cy="1313077"/>
            </a:xfrm>
            <a:prstGeom prst="flowChartAlternateProcess">
              <a:avLst/>
            </a:prstGeom>
            <a:solidFill>
              <a:schemeClr val="lt1"/>
            </a:solidFill>
            <a:ln w="28575" cap="flat" cmpd="sng">
              <a:solidFill>
                <a:srgbClr val="FFC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g31cf6e6c90e_0_87"/>
            <p:cNvSpPr txBox="1"/>
            <p:nvPr/>
          </p:nvSpPr>
          <p:spPr>
            <a:xfrm>
              <a:off x="346700" y="3475769"/>
              <a:ext cx="3845150" cy="14772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lvl="0"/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4. As a farm operator who lives in rural areas with inconsistent internet, I </a:t>
              </a:r>
              <a:r>
                <a:rPr lang="en-US" sz="1200" b="1" dirty="0">
                  <a:solidFill>
                    <a:srgbClr val="00B050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want an app that reliably provides directions even offline or low signal</a:t>
              </a:r>
              <a: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, so I’m not stranded without guidance if I’m outside the coverage zone.</a:t>
              </a:r>
              <a:br>
                <a:rPr lang="en-US" sz="1200" b="1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</a:br>
              <a:r>
                <a:rPr lang="en-US" sz="1200" dirty="0">
                  <a:solidFill>
                    <a:schemeClr val="dk1"/>
                  </a:solidFill>
                  <a:latin typeface="Calibri" panose="020F0502020204030204" pitchFamily="34" charset="0"/>
                  <a:ea typeface="Calibri"/>
                  <a:cs typeface="Calibri" panose="020F0502020204030204" pitchFamily="34" charset="0"/>
                  <a:sym typeface="Calibri"/>
                </a:rPr>
                <a:t>(Frustration) I often navigate apps that stop working in remote areas, leaving me without reliable guidance when I need it most.</a:t>
              </a:r>
            </a:p>
          </p:txBody>
        </p:sp>
      </p:grpSp>
      <p:sp>
        <p:nvSpPr>
          <p:cNvPr id="4" name="Rectangle 3"/>
          <p:cNvSpPr/>
          <p:nvPr/>
        </p:nvSpPr>
        <p:spPr>
          <a:xfrm>
            <a:off x="180000" y="629274"/>
            <a:ext cx="48429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Progression from Ideation to Conceptualization and execution </a:t>
            </a:r>
            <a:endParaRPr lang="en-IN" dirty="0"/>
          </a:p>
        </p:txBody>
      </p:sp>
      <p:grpSp>
        <p:nvGrpSpPr>
          <p:cNvPr id="7" name="Group 6"/>
          <p:cNvGrpSpPr/>
          <p:nvPr/>
        </p:nvGrpSpPr>
        <p:grpSpPr>
          <a:xfrm>
            <a:off x="4526163" y="1811523"/>
            <a:ext cx="2482372" cy="669676"/>
            <a:chOff x="4303440" y="1636608"/>
            <a:chExt cx="2482372" cy="669676"/>
          </a:xfrm>
        </p:grpSpPr>
        <p:sp>
          <p:nvSpPr>
            <p:cNvPr id="27" name="Rectangle 26"/>
            <p:cNvSpPr/>
            <p:nvPr/>
          </p:nvSpPr>
          <p:spPr>
            <a:xfrm>
              <a:off x="4356853" y="1636608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/>
            <p:cNvSpPr/>
            <p:nvPr/>
          </p:nvSpPr>
          <p:spPr>
            <a:xfrm>
              <a:off x="4303440" y="1655653"/>
              <a:ext cx="24823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provide an option for modifying/tracking data of location + provide privacy settings</a:t>
              </a: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26163" y="3023402"/>
            <a:ext cx="2482372" cy="669676"/>
            <a:chOff x="4206239" y="2909285"/>
            <a:chExt cx="2482372" cy="669676"/>
          </a:xfrm>
        </p:grpSpPr>
        <p:sp>
          <p:nvSpPr>
            <p:cNvPr id="26" name="Rectangle 25"/>
            <p:cNvSpPr/>
            <p:nvPr/>
          </p:nvSpPr>
          <p:spPr>
            <a:xfrm>
              <a:off x="4259652" y="2909285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4206239" y="2913317"/>
              <a:ext cx="24823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be able to provide high-accurate route suggestions in areas with poor connectivity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26163" y="4305213"/>
            <a:ext cx="2482372" cy="669676"/>
            <a:chOff x="4303440" y="3988866"/>
            <a:chExt cx="2482372" cy="669676"/>
          </a:xfrm>
        </p:grpSpPr>
        <p:sp>
          <p:nvSpPr>
            <p:cNvPr id="25" name="Rectangle 24"/>
            <p:cNvSpPr/>
            <p:nvPr/>
          </p:nvSpPr>
          <p:spPr>
            <a:xfrm>
              <a:off x="4356853" y="3988866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303440" y="4002621"/>
              <a:ext cx="24823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be able to provide high-accurate route suggestions in areas with poor connectivity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526163" y="5614975"/>
            <a:ext cx="2482372" cy="669676"/>
            <a:chOff x="4303440" y="5324443"/>
            <a:chExt cx="2482372" cy="669676"/>
          </a:xfrm>
        </p:grpSpPr>
        <p:sp>
          <p:nvSpPr>
            <p:cNvPr id="6" name="Rectangle 5"/>
            <p:cNvSpPr/>
            <p:nvPr/>
          </p:nvSpPr>
          <p:spPr>
            <a:xfrm>
              <a:off x="4356853" y="5324443"/>
              <a:ext cx="2375546" cy="669676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303440" y="5338162"/>
              <a:ext cx="248237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App should give the user an option to customize any notifications they receive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7061948" y="1811523"/>
            <a:ext cx="2482372" cy="669676"/>
            <a:chOff x="4303440" y="1636608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37" name="Rectangle 36"/>
            <p:cNvSpPr/>
            <p:nvPr/>
          </p:nvSpPr>
          <p:spPr>
            <a:xfrm>
              <a:off x="4356853" y="1636608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4303440" y="1828906"/>
              <a:ext cx="24823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 Privacy Settings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061948" y="3023402"/>
            <a:ext cx="2482372" cy="669676"/>
            <a:chOff x="4206239" y="2909285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0" name="Rectangle 39"/>
            <p:cNvSpPr/>
            <p:nvPr/>
          </p:nvSpPr>
          <p:spPr>
            <a:xfrm>
              <a:off x="4259652" y="2909285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4206239" y="3025077"/>
              <a:ext cx="2482372" cy="461665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pPr lvl="0" algn="ctr"/>
              <a:endPara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  <a:p>
              <a:pPr lvl="0" algn="ctr"/>
              <a:endParaRPr lang="en-US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7061948" y="4305213"/>
            <a:ext cx="2482372" cy="669676"/>
            <a:chOff x="4303440" y="3988866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3" name="Rectangle 42"/>
            <p:cNvSpPr/>
            <p:nvPr/>
          </p:nvSpPr>
          <p:spPr>
            <a:xfrm>
              <a:off x="4356853" y="3988866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303440" y="4185496"/>
              <a:ext cx="24823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Offline Navigation Mode</a:t>
              </a: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7061948" y="5614975"/>
            <a:ext cx="2482372" cy="669676"/>
            <a:chOff x="4303440" y="5324443"/>
            <a:chExt cx="2482372" cy="66967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46" name="Rectangle 45"/>
            <p:cNvSpPr/>
            <p:nvPr/>
          </p:nvSpPr>
          <p:spPr>
            <a:xfrm>
              <a:off x="4356853" y="5324443"/>
              <a:ext cx="2375546" cy="669676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303440" y="5525854"/>
              <a:ext cx="2482372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 algn="ctr"/>
              <a:r>
                <a:rPr lang="en-US" sz="12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Notification Customization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376826" y="1811523"/>
            <a:ext cx="2482372" cy="751101"/>
            <a:chOff x="9388972" y="1556848"/>
            <a:chExt cx="2482372" cy="751101"/>
          </a:xfrm>
        </p:grpSpPr>
        <p:sp>
          <p:nvSpPr>
            <p:cNvPr id="14" name="Snip Single Corner Rectangle 13"/>
            <p:cNvSpPr/>
            <p:nvPr/>
          </p:nvSpPr>
          <p:spPr>
            <a:xfrm>
              <a:off x="9675843" y="1556848"/>
              <a:ext cx="1899920" cy="66967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0" name="Group 49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51" name="Rectangle 50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Sidebar</a:t>
                </a:r>
              </a:p>
            </p:txBody>
          </p:sp>
        </p:grpSp>
      </p:grpSp>
      <p:grpSp>
        <p:nvGrpSpPr>
          <p:cNvPr id="76" name="Group 75"/>
          <p:cNvGrpSpPr/>
          <p:nvPr/>
        </p:nvGrpSpPr>
        <p:grpSpPr>
          <a:xfrm>
            <a:off x="9376826" y="3020439"/>
            <a:ext cx="2482372" cy="751101"/>
            <a:chOff x="9388972" y="1556848"/>
            <a:chExt cx="2482372" cy="751101"/>
          </a:xfrm>
        </p:grpSpPr>
        <p:sp>
          <p:nvSpPr>
            <p:cNvPr id="77" name="Snip Single Corner Rectangle 76"/>
            <p:cNvSpPr/>
            <p:nvPr/>
          </p:nvSpPr>
          <p:spPr>
            <a:xfrm>
              <a:off x="9675843" y="1556848"/>
              <a:ext cx="1899920" cy="65332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78" name="Group 77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79" name="Rectangle 78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Offline Mode</a:t>
                </a:r>
              </a:p>
            </p:txBody>
          </p:sp>
        </p:grpSp>
      </p:grpSp>
      <p:grpSp>
        <p:nvGrpSpPr>
          <p:cNvPr id="81" name="Group 80"/>
          <p:cNvGrpSpPr/>
          <p:nvPr/>
        </p:nvGrpSpPr>
        <p:grpSpPr>
          <a:xfrm>
            <a:off x="9376826" y="4305213"/>
            <a:ext cx="2482372" cy="751101"/>
            <a:chOff x="9388972" y="1556848"/>
            <a:chExt cx="2482372" cy="751101"/>
          </a:xfrm>
        </p:grpSpPr>
        <p:sp>
          <p:nvSpPr>
            <p:cNvPr id="82" name="Snip Single Corner Rectangle 81"/>
            <p:cNvSpPr/>
            <p:nvPr/>
          </p:nvSpPr>
          <p:spPr>
            <a:xfrm>
              <a:off x="9675843" y="1556848"/>
              <a:ext cx="1899920" cy="65332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3" name="Group 82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84" name="Rectangle 83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Offline mode</a:t>
                </a:r>
              </a:p>
            </p:txBody>
          </p:sp>
        </p:grpSp>
      </p:grpSp>
      <p:grpSp>
        <p:nvGrpSpPr>
          <p:cNvPr id="86" name="Group 85"/>
          <p:cNvGrpSpPr/>
          <p:nvPr/>
        </p:nvGrpSpPr>
        <p:grpSpPr>
          <a:xfrm>
            <a:off x="9376826" y="5618429"/>
            <a:ext cx="2482372" cy="751101"/>
            <a:chOff x="9388972" y="1556848"/>
            <a:chExt cx="2482372" cy="751101"/>
          </a:xfrm>
        </p:grpSpPr>
        <p:sp>
          <p:nvSpPr>
            <p:cNvPr id="87" name="Snip Single Corner Rectangle 86"/>
            <p:cNvSpPr/>
            <p:nvPr/>
          </p:nvSpPr>
          <p:spPr>
            <a:xfrm>
              <a:off x="9675843" y="1556848"/>
              <a:ext cx="1899920" cy="653326"/>
            </a:xfrm>
            <a:prstGeom prst="snip1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88" name="Group 87"/>
            <p:cNvGrpSpPr/>
            <p:nvPr/>
          </p:nvGrpSpPr>
          <p:grpSpPr>
            <a:xfrm>
              <a:off x="9388972" y="1638273"/>
              <a:ext cx="2482372" cy="669676"/>
              <a:chOff x="4303440" y="1636608"/>
              <a:chExt cx="2482372" cy="669676"/>
            </a:xfrm>
            <a:solidFill>
              <a:schemeClr val="bg1"/>
            </a:solidFill>
          </p:grpSpPr>
          <p:sp>
            <p:nvSpPr>
              <p:cNvPr id="89" name="Rectangle 88"/>
              <p:cNvSpPr/>
              <p:nvPr/>
            </p:nvSpPr>
            <p:spPr>
              <a:xfrm>
                <a:off x="4356853" y="1636608"/>
                <a:ext cx="2375546" cy="66967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tangle 89"/>
              <p:cNvSpPr/>
              <p:nvPr/>
            </p:nvSpPr>
            <p:spPr>
              <a:xfrm>
                <a:off x="4303440" y="1742278"/>
                <a:ext cx="248237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Profile</a:t>
                </a:r>
              </a:p>
            </p:txBody>
          </p:sp>
        </p:grpSp>
      </p:grpSp>
      <p:sp>
        <p:nvSpPr>
          <p:cNvPr id="32" name="Rectangle 31"/>
          <p:cNvSpPr/>
          <p:nvPr/>
        </p:nvSpPr>
        <p:spPr>
          <a:xfrm>
            <a:off x="7428918" y="3204150"/>
            <a:ext cx="178766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Offline Navigation Mode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-3188" y="1040937"/>
            <a:ext cx="12192000" cy="307778"/>
            <a:chOff x="-3188" y="1040937"/>
            <a:chExt cx="12192000" cy="307778"/>
          </a:xfrm>
        </p:grpSpPr>
        <p:sp>
          <p:nvSpPr>
            <p:cNvPr id="96" name="Google Shape;188;g31cf6e6c90e_0_0"/>
            <p:cNvSpPr txBox="1"/>
            <p:nvPr/>
          </p:nvSpPr>
          <p:spPr>
            <a:xfrm>
              <a:off x="-3188" y="1070989"/>
              <a:ext cx="12192000" cy="2622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dirty="0">
                <a:solidFill>
                  <a:schemeClr val="bg1"/>
                </a:solidFill>
              </a:endParaRPr>
            </a:p>
          </p:txBody>
        </p:sp>
        <p:sp>
          <p:nvSpPr>
            <p:cNvPr id="97" name="Rectangle 96"/>
            <p:cNvSpPr/>
            <p:nvPr/>
          </p:nvSpPr>
          <p:spPr>
            <a:xfrm>
              <a:off x="1869526" y="1040938"/>
              <a:ext cx="108234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User Stories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5167918" y="1040937"/>
              <a:ext cx="123303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Requirements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7905681" y="1040937"/>
              <a:ext cx="82907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cs typeface="Calibri"/>
                  <a:sym typeface="Calibri"/>
                </a:rPr>
                <a:t>Features</a:t>
              </a:r>
              <a:endParaRPr lang="en-IN" dirty="0">
                <a:solidFill>
                  <a:schemeClr val="bg1"/>
                </a:solidFill>
              </a:endParaRPr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322804" y="1040937"/>
              <a:ext cx="61587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Pages</a:t>
              </a:r>
              <a:endParaRPr lang="en-IN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5742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2" grpId="0" animBg="1"/>
      <p:bldP spid="3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Transition from Low Fidelity to </a:t>
            </a:r>
            <a:r>
              <a:rPr lang="en-US" sz="2800" b="1" dirty="0">
                <a:solidFill>
                  <a:srgbClr val="002060"/>
                </a:solidFill>
              </a:rPr>
              <a:t>High Fidelity Design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63331" y="1086318"/>
            <a:ext cx="2379405" cy="26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8"/>
          <p:cNvPicPr preferRelativeResize="0"/>
          <p:nvPr/>
        </p:nvPicPr>
        <p:blipFill rotWithShape="1">
          <a:blip r:embed="rId4">
            <a:alphaModFix/>
          </a:blip>
          <a:srcRect l="1" t="2150" r="1160"/>
          <a:stretch/>
        </p:blipFill>
        <p:spPr>
          <a:xfrm>
            <a:off x="692150" y="1092377"/>
            <a:ext cx="3351530" cy="2628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698079" y="1089348"/>
            <a:ext cx="3043494" cy="26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1077426" y="3882867"/>
            <a:ext cx="10284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discussed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290786" y="4352869"/>
            <a:ext cx="10284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xxxxxxxxxxxxxxxxxxxxxxxxxxxxxxxxxxxxxyyyyyyyyyyyyyyyyyyyyyzzzzzzzzzzzzzzzzzzzzzzzzzzzzzzzzzzzzzzzzzzzzzzzzzzzzzzzzzzz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Transition from Low Fidelity to </a:t>
            </a:r>
            <a:r>
              <a:rPr lang="en-US" sz="2800" b="1" dirty="0">
                <a:solidFill>
                  <a:srgbClr val="002060"/>
                </a:solidFill>
              </a:rPr>
              <a:t>High Fidelity Design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8060" y="1181491"/>
            <a:ext cx="3639167" cy="43744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1401881" y="6072199"/>
            <a:ext cx="10284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be discussed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401881" y="6269597"/>
            <a:ext cx="10284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xxxxxxxxxxxxxxxxxxxxxxxxxxxxxxxxxxxxxyyyyyyyyyyyyyyyyyyyyyzzzzzzzzzzzzzzzzzzzzzzzzzzzzzzzzzzzzzzzzzzzzzzzzzzzzzzzzzzz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8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9992" y="1044477"/>
            <a:ext cx="2415608" cy="4648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865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Design Decisions Made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801361" y="3196921"/>
            <a:ext cx="3415278" cy="1648911"/>
            <a:chOff x="1035041" y="2906210"/>
            <a:chExt cx="3415278" cy="1648911"/>
          </a:xfrm>
        </p:grpSpPr>
        <p:grpSp>
          <p:nvGrpSpPr>
            <p:cNvPr id="28" name="Group 27"/>
            <p:cNvGrpSpPr/>
            <p:nvPr/>
          </p:nvGrpSpPr>
          <p:grpSpPr>
            <a:xfrm>
              <a:off x="1035041" y="3570194"/>
              <a:ext cx="3415278" cy="984927"/>
              <a:chOff x="1015059" y="3024426"/>
              <a:chExt cx="3415278" cy="984927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1015059" y="3270689"/>
                <a:ext cx="341527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Prioritizing quick access to critical information such as location, navigation, and traffic data.</a:t>
                </a:r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1772759" y="3024426"/>
                <a:ext cx="189987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User-Centric Design</a:t>
                </a: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p:grpSp>
        <p:pic>
          <p:nvPicPr>
            <p:cNvPr id="32" name="Picture 2" descr="Customer - Free marketing icon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4723" y="2906210"/>
              <a:ext cx="555913" cy="555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oup 43"/>
          <p:cNvGrpSpPr/>
          <p:nvPr/>
        </p:nvGrpSpPr>
        <p:grpSpPr>
          <a:xfrm>
            <a:off x="4271562" y="3251532"/>
            <a:ext cx="3415278" cy="1378856"/>
            <a:chOff x="4505242" y="2960821"/>
            <a:chExt cx="3415278" cy="1378856"/>
          </a:xfrm>
        </p:grpSpPr>
        <p:grpSp>
          <p:nvGrpSpPr>
            <p:cNvPr id="29" name="Group 28"/>
            <p:cNvGrpSpPr/>
            <p:nvPr/>
          </p:nvGrpSpPr>
          <p:grpSpPr>
            <a:xfrm>
              <a:off x="4505242" y="3570194"/>
              <a:ext cx="3415278" cy="769483"/>
              <a:chOff x="4540184" y="3024426"/>
              <a:chExt cx="3415278" cy="769483"/>
            </a:xfrm>
          </p:grpSpPr>
          <p:sp>
            <p:nvSpPr>
              <p:cNvPr id="37" name="Rectangle 36"/>
              <p:cNvSpPr/>
              <p:nvPr/>
            </p:nvSpPr>
            <p:spPr>
              <a:xfrm>
                <a:off x="4540184" y="3270689"/>
                <a:ext cx="34152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Keeping the interface clean and uncluttered despite a wealth of features.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5297884" y="3024426"/>
                <a:ext cx="1899879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Minimalist Interface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43" name="Picture 4" descr="Minimal Icons - Free SVG &amp; PNG Minimal Images - Noun Project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6838" y="2960821"/>
              <a:ext cx="446692" cy="446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6" name="Group 45"/>
          <p:cNvGrpSpPr/>
          <p:nvPr/>
        </p:nvGrpSpPr>
        <p:grpSpPr>
          <a:xfrm>
            <a:off x="7741764" y="3260754"/>
            <a:ext cx="3415278" cy="1369634"/>
            <a:chOff x="7975444" y="2970043"/>
            <a:chExt cx="3415278" cy="1369634"/>
          </a:xfrm>
        </p:grpSpPr>
        <p:grpSp>
          <p:nvGrpSpPr>
            <p:cNvPr id="31" name="Group 30"/>
            <p:cNvGrpSpPr/>
            <p:nvPr/>
          </p:nvGrpSpPr>
          <p:grpSpPr>
            <a:xfrm>
              <a:off x="7975444" y="3570194"/>
              <a:ext cx="3415278" cy="769483"/>
              <a:chOff x="7955462" y="3024426"/>
              <a:chExt cx="3415278" cy="769483"/>
            </a:xfrm>
          </p:grpSpPr>
          <p:sp>
            <p:nvSpPr>
              <p:cNvPr id="41" name="Rectangle 40"/>
              <p:cNvSpPr/>
              <p:nvPr/>
            </p:nvSpPr>
            <p:spPr>
              <a:xfrm>
                <a:off x="7955462" y="3270689"/>
                <a:ext cx="34152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Using intuitive colors to differentiate elements (Stroop effect)</a:t>
                </a:r>
              </a:p>
            </p:txBody>
          </p:sp>
          <p:sp>
            <p:nvSpPr>
              <p:cNvPr id="42" name="Rectangle 41"/>
              <p:cNvSpPr/>
              <p:nvPr/>
            </p:nvSpPr>
            <p:spPr>
              <a:xfrm>
                <a:off x="9016129" y="3024426"/>
                <a:ext cx="12939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Color Coding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45" name="Picture 6" descr="Color Codes Icon - Free Download Design &amp; Development Icons | IconScout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50803" y="2970043"/>
              <a:ext cx="464561" cy="464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Group 3"/>
          <p:cNvGrpSpPr/>
          <p:nvPr/>
        </p:nvGrpSpPr>
        <p:grpSpPr>
          <a:xfrm>
            <a:off x="394626" y="1409950"/>
            <a:ext cx="11423068" cy="898819"/>
            <a:chOff x="394626" y="1409950"/>
            <a:chExt cx="11423068" cy="898819"/>
          </a:xfrm>
        </p:grpSpPr>
        <p:sp>
          <p:nvSpPr>
            <p:cNvPr id="3" name="Rounded Rectangle 2"/>
            <p:cNvSpPr/>
            <p:nvPr/>
          </p:nvSpPr>
          <p:spPr>
            <a:xfrm>
              <a:off x="394626" y="1409950"/>
              <a:ext cx="11423068" cy="898819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95126" y="1671616"/>
              <a:ext cx="10273636" cy="3754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15000"/>
                </a:lnSpc>
                <a:spcBef>
                  <a:spcPts val="12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Our app’s is centered around usability, clarity, and efficiency. as a group we decided to follow these UX/UI principles: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580436" y="1573584"/>
              <a:ext cx="576000" cy="57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pic>
          <p:nvPicPr>
            <p:cNvPr id="1026" name="Picture 2" descr="Arrow-decision icon. Free download transparent .PNG | Creazilla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1745" y="1634893"/>
              <a:ext cx="453381" cy="453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4823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Design Guidelines Followed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94626" y="1409950"/>
            <a:ext cx="11423068" cy="898819"/>
            <a:chOff x="394626" y="1409950"/>
            <a:chExt cx="11423068" cy="898819"/>
          </a:xfrm>
        </p:grpSpPr>
        <p:sp>
          <p:nvSpPr>
            <p:cNvPr id="3" name="Rounded Rectangle 2"/>
            <p:cNvSpPr/>
            <p:nvPr/>
          </p:nvSpPr>
          <p:spPr>
            <a:xfrm>
              <a:off x="394626" y="1409950"/>
              <a:ext cx="11423068" cy="898819"/>
            </a:xfrm>
            <a:prstGeom prst="roundRect">
              <a:avLst>
                <a:gd name="adj" fmla="val 50000"/>
              </a:avLst>
            </a:prstGeom>
            <a:solidFill>
              <a:srgbClr val="FFD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95126" y="1671616"/>
              <a:ext cx="10273636" cy="35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15000"/>
                </a:lnSpc>
                <a:spcBef>
                  <a:spcPts val="1200"/>
                </a:spcBef>
              </a:pPr>
              <a:r>
                <a:rPr lang="en-US" sz="1600" b="1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Our App adheres to established design principles to ensure usability and accessibility: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580436" y="1573584"/>
              <a:ext cx="576000" cy="57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26" name="Picture 4" descr="Guidelines - Free education 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479" y="1668242"/>
            <a:ext cx="382233" cy="382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/>
          <p:cNvGrpSpPr/>
          <p:nvPr/>
        </p:nvGrpSpPr>
        <p:grpSpPr>
          <a:xfrm>
            <a:off x="2018302" y="3053489"/>
            <a:ext cx="3415278" cy="1604975"/>
            <a:chOff x="2874001" y="2490766"/>
            <a:chExt cx="3415278" cy="1604975"/>
          </a:xfrm>
        </p:grpSpPr>
        <p:grpSp>
          <p:nvGrpSpPr>
            <p:cNvPr id="30" name="Group 29"/>
            <p:cNvGrpSpPr/>
            <p:nvPr/>
          </p:nvGrpSpPr>
          <p:grpSpPr>
            <a:xfrm>
              <a:off x="2874001" y="3110814"/>
              <a:ext cx="3415278" cy="984927"/>
              <a:chOff x="1015059" y="3024426"/>
              <a:chExt cx="3415278" cy="984927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1015059" y="3270689"/>
                <a:ext cx="3415278" cy="73866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Ensuring the app is accessible to all user base by offering easy to read text , color contrast, and large tappable areas.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2091757" y="3024426"/>
                <a:ext cx="126188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Accessibility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34" name="Picture 2" descr="Apps Accessibility Icon | Flatwoken Iconpack | alecive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91591" y="2490766"/>
              <a:ext cx="580098" cy="5800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oup 38"/>
          <p:cNvGrpSpPr/>
          <p:nvPr/>
        </p:nvGrpSpPr>
        <p:grpSpPr>
          <a:xfrm>
            <a:off x="6575623" y="3140871"/>
            <a:ext cx="3415278" cy="1302149"/>
            <a:chOff x="6344202" y="2578148"/>
            <a:chExt cx="3415278" cy="1302149"/>
          </a:xfrm>
        </p:grpSpPr>
        <p:grpSp>
          <p:nvGrpSpPr>
            <p:cNvPr id="40" name="Group 39"/>
            <p:cNvGrpSpPr/>
            <p:nvPr/>
          </p:nvGrpSpPr>
          <p:grpSpPr>
            <a:xfrm>
              <a:off x="6344202" y="3110814"/>
              <a:ext cx="3415278" cy="769483"/>
              <a:chOff x="6344202" y="3110814"/>
              <a:chExt cx="3415278" cy="769483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6344202" y="3357077"/>
                <a:ext cx="3415278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Uniform design language across pages to maintain familiarity for users.</a:t>
                </a: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7436931" y="3110814"/>
                <a:ext cx="122982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Consistency</a:t>
                </a:r>
                <a:endParaRPr lang="en-US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47" name="Picture 4" descr="Consistency - Free arrows icon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02600" y="2578148"/>
              <a:ext cx="498483" cy="4984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0218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Design Patterns Used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384466" y="942001"/>
            <a:ext cx="11423068" cy="898819"/>
            <a:chOff x="394626" y="1409950"/>
            <a:chExt cx="11423068" cy="898819"/>
          </a:xfrm>
        </p:grpSpPr>
        <p:sp>
          <p:nvSpPr>
            <p:cNvPr id="3" name="Rounded Rectangle 2"/>
            <p:cNvSpPr/>
            <p:nvPr/>
          </p:nvSpPr>
          <p:spPr>
            <a:xfrm>
              <a:off x="394626" y="1409950"/>
              <a:ext cx="11423068" cy="898819"/>
            </a:xfrm>
            <a:prstGeom prst="roundRect">
              <a:avLst>
                <a:gd name="adj" fmla="val 50000"/>
              </a:avLst>
            </a:prstGeom>
            <a:solidFill>
              <a:srgbClr val="5959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1095126" y="1671616"/>
              <a:ext cx="10273636" cy="3588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ctr">
                <a:lnSpc>
                  <a:spcPct val="115000"/>
                </a:lnSpc>
                <a:spcBef>
                  <a:spcPts val="12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Our App employs various design patterns to ensure functionality and ease of use:</a:t>
              </a:r>
            </a:p>
          </p:txBody>
        </p:sp>
        <p:sp>
          <p:nvSpPr>
            <p:cNvPr id="25" name="Oval 24"/>
            <p:cNvSpPr/>
            <p:nvPr/>
          </p:nvSpPr>
          <p:spPr>
            <a:xfrm>
              <a:off x="580436" y="1573584"/>
              <a:ext cx="576000" cy="576000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pic>
        <p:nvPicPr>
          <p:cNvPr id="63" name="Picture 6" descr="Pattern icon - Download on Iconfinder on Iconfin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123" y="1222257"/>
            <a:ext cx="338305" cy="3383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/>
          <p:cNvGrpSpPr/>
          <p:nvPr/>
        </p:nvGrpSpPr>
        <p:grpSpPr>
          <a:xfrm>
            <a:off x="384466" y="2346158"/>
            <a:ext cx="3415278" cy="1276669"/>
            <a:chOff x="384466" y="2346158"/>
            <a:chExt cx="3415278" cy="1276669"/>
          </a:xfrm>
        </p:grpSpPr>
        <p:grpSp>
          <p:nvGrpSpPr>
            <p:cNvPr id="26" name="Group 25"/>
            <p:cNvGrpSpPr/>
            <p:nvPr/>
          </p:nvGrpSpPr>
          <p:grpSpPr>
            <a:xfrm>
              <a:off x="384466" y="2914899"/>
              <a:ext cx="3415278" cy="707928"/>
              <a:chOff x="1015059" y="3024426"/>
              <a:chExt cx="3415278" cy="707928"/>
            </a:xfrm>
          </p:grpSpPr>
          <p:sp>
            <p:nvSpPr>
              <p:cNvPr id="30" name="Rectangle 29"/>
              <p:cNvSpPr/>
              <p:nvPr/>
            </p:nvSpPr>
            <p:spPr>
              <a:xfrm>
                <a:off x="1015059" y="3270689"/>
                <a:ext cx="341527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Dragging for panning, pinch-to-zoom, and tilt-to-view offer direct manipulation of the map.</a:t>
                </a: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1775965" y="3024426"/>
                <a:ext cx="1893467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Map Interaction Pattern</a:t>
                </a:r>
                <a:endParaRPr 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3076" name="Picture 4" descr="Maps Icon, Transparent Maps.PNG Images &amp; Vector - FreeIcons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308" y="2346158"/>
              <a:ext cx="499595" cy="4995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7" name="Group 6"/>
          <p:cNvGrpSpPr/>
          <p:nvPr/>
        </p:nvGrpSpPr>
        <p:grpSpPr>
          <a:xfrm>
            <a:off x="4284180" y="2311808"/>
            <a:ext cx="3415278" cy="1969324"/>
            <a:chOff x="4163895" y="2311808"/>
            <a:chExt cx="3415278" cy="1969324"/>
          </a:xfrm>
        </p:grpSpPr>
        <p:grpSp>
          <p:nvGrpSpPr>
            <p:cNvPr id="36" name="Group 35"/>
            <p:cNvGrpSpPr/>
            <p:nvPr/>
          </p:nvGrpSpPr>
          <p:grpSpPr>
            <a:xfrm>
              <a:off x="4163895" y="2865318"/>
              <a:ext cx="3415278" cy="1415814"/>
              <a:chOff x="4540184" y="3024426"/>
              <a:chExt cx="3415278" cy="1415814"/>
            </a:xfrm>
          </p:grpSpPr>
          <p:sp>
            <p:nvSpPr>
              <p:cNvPr id="40" name="Rectangle 39"/>
              <p:cNvSpPr/>
              <p:nvPr/>
            </p:nvSpPr>
            <p:spPr>
              <a:xfrm>
                <a:off x="4540184" y="3270689"/>
                <a:ext cx="3415278" cy="11695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Overlays for search results, directions, and nearby points of interest to avoid obstructing the main map.</a:t>
                </a:r>
              </a:p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The sliding panel at the bottom offers secondary information while maintaining focus on the map.</a:t>
                </a: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5571997" y="3024426"/>
                <a:ext cx="1351652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Overlay Pattern</a:t>
                </a:r>
                <a:endParaRPr 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3078" name="Picture 6" descr="Overlay - Free interface icons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4562" y="2311808"/>
              <a:ext cx="533945" cy="5339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8183894" y="2359237"/>
            <a:ext cx="3415278" cy="1445316"/>
            <a:chOff x="8183894" y="2359237"/>
            <a:chExt cx="3415278" cy="1445316"/>
          </a:xfrm>
        </p:grpSpPr>
        <p:grpSp>
          <p:nvGrpSpPr>
            <p:cNvPr id="49" name="Group 48"/>
            <p:cNvGrpSpPr/>
            <p:nvPr/>
          </p:nvGrpSpPr>
          <p:grpSpPr>
            <a:xfrm>
              <a:off x="8183894" y="2911959"/>
              <a:ext cx="3415278" cy="892594"/>
              <a:chOff x="7955462" y="3024426"/>
              <a:chExt cx="3415278" cy="892594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7955462" y="3270689"/>
                <a:ext cx="341527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Expandable cards at the bottom give detailed route or place information without overwhelming the main interface.</a:t>
                </a: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8614576" y="3024426"/>
                <a:ext cx="2097049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Dynamic Information Cards</a:t>
                </a:r>
                <a:endParaRPr 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3080" name="Picture 8" descr="Cards Icons - Free SVG &amp; PNG Cards Images - Noun Project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7220" y="2359237"/>
              <a:ext cx="508626" cy="50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/>
          <p:cNvGrpSpPr/>
          <p:nvPr/>
        </p:nvGrpSpPr>
        <p:grpSpPr>
          <a:xfrm>
            <a:off x="1842308" y="4924504"/>
            <a:ext cx="3415278" cy="1360622"/>
            <a:chOff x="1842308" y="4924504"/>
            <a:chExt cx="3415278" cy="1360622"/>
          </a:xfrm>
        </p:grpSpPr>
        <p:grpSp>
          <p:nvGrpSpPr>
            <p:cNvPr id="54" name="Group 53"/>
            <p:cNvGrpSpPr/>
            <p:nvPr/>
          </p:nvGrpSpPr>
          <p:grpSpPr>
            <a:xfrm>
              <a:off x="1842308" y="5392532"/>
              <a:ext cx="3415278" cy="892594"/>
              <a:chOff x="7955462" y="3024426"/>
              <a:chExt cx="3415278" cy="892594"/>
            </a:xfrm>
          </p:grpSpPr>
          <p:sp>
            <p:nvSpPr>
              <p:cNvPr id="56" name="Rectangle 55"/>
              <p:cNvSpPr/>
              <p:nvPr/>
            </p:nvSpPr>
            <p:spPr>
              <a:xfrm>
                <a:off x="7955462" y="3270689"/>
                <a:ext cx="341527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Right-click menus (desktop) or long-press options (mobile) allow access to contextual actions, like saving or sharing a location.</a:t>
                </a:r>
              </a:p>
            </p:txBody>
          </p:sp>
          <p:sp>
            <p:nvSpPr>
              <p:cNvPr id="57" name="Rectangle 56"/>
              <p:cNvSpPr/>
              <p:nvPr/>
            </p:nvSpPr>
            <p:spPr>
              <a:xfrm>
                <a:off x="8903918" y="3024426"/>
                <a:ext cx="1518364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Contextual Menus</a:t>
                </a:r>
                <a:endParaRPr 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3082" name="Picture 10" descr="Menu - Free multimedia icons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3415" y="4924504"/>
              <a:ext cx="393065" cy="393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oup 10"/>
          <p:cNvGrpSpPr/>
          <p:nvPr/>
        </p:nvGrpSpPr>
        <p:grpSpPr>
          <a:xfrm>
            <a:off x="6730568" y="4887118"/>
            <a:ext cx="3415278" cy="1213342"/>
            <a:chOff x="6730568" y="4887118"/>
            <a:chExt cx="3415278" cy="1213342"/>
          </a:xfrm>
        </p:grpSpPr>
        <p:grpSp>
          <p:nvGrpSpPr>
            <p:cNvPr id="59" name="Group 58"/>
            <p:cNvGrpSpPr/>
            <p:nvPr/>
          </p:nvGrpSpPr>
          <p:grpSpPr>
            <a:xfrm>
              <a:off x="6730568" y="5392532"/>
              <a:ext cx="3415278" cy="707928"/>
              <a:chOff x="7955462" y="3024426"/>
              <a:chExt cx="3415278" cy="707928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7955462" y="3270689"/>
                <a:ext cx="341527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dirty="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Highlighting eco-friendly routes to reduce environmental impact.</a:t>
                </a: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8859034" y="3024426"/>
                <a:ext cx="160813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158750" lvl="0" algn="ctr">
                  <a:spcBef>
                    <a:spcPts val="1200"/>
                  </a:spcBef>
                  <a:buClr>
                    <a:schemeClr val="dk1"/>
                  </a:buClr>
                  <a:buSzPts val="1100"/>
                </a:pPr>
                <a:r>
                  <a:rPr lang="en-US" sz="12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Sustainability Focus</a:t>
                </a:r>
                <a:endParaRPr lang="en-US" sz="1200" dirty="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pic>
          <p:nvPicPr>
            <p:cNvPr id="3084" name="Picture 12" descr="Green, growth, plant, startup, sustainability icon - Download on Iconfinder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5500" y="4887118"/>
              <a:ext cx="505414" cy="5054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484585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Design </a:t>
            </a:r>
            <a:r>
              <a:rPr lang="en-US" sz="2800" b="1">
                <a:solidFill>
                  <a:srgbClr val="002060"/>
                </a:solidFill>
              </a:rPr>
              <a:t>Decisions and Guidelines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5250" y="934732"/>
            <a:ext cx="5226900" cy="7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 </a:t>
            </a:r>
            <a:r>
              <a:rPr lang="en-US" sz="14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aim is to create a seamless navigation app with additional features but while navigating we decided to focus on navigation only and side-line our other features</a:t>
            </a:r>
            <a:r>
              <a:rPr lang="en-US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endParaRPr sz="1400" b="1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170500" y="2240050"/>
            <a:ext cx="5889300" cy="11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make sure the user focuses on the ‘correct’ or important stimuli?</a:t>
            </a:r>
            <a:endParaRPr/>
          </a:p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AutoNum type="arabicPeriod"/>
            </a:pPr>
            <a:r>
              <a:rPr lang="en-US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to make sure the user understands the stimuli that has their attention?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170500" y="3356650"/>
            <a:ext cx="5889300" cy="27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Arial"/>
              <a:buChar char="•"/>
            </a:pPr>
            <a:r>
              <a:rPr lang="en-US" sz="1400" b="1" i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Key information (e.g., the current route and next turn) is displayed prominently </a:t>
            </a:r>
            <a:r>
              <a:rPr lang="en-US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navigation interface, often at the top or </a:t>
            </a:r>
            <a:r>
              <a:rPr lang="en-US" sz="1400" i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centre</a:t>
            </a:r>
            <a:r>
              <a:rPr lang="en-US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screen.</a:t>
            </a:r>
            <a:endParaRPr dirty="0"/>
          </a:p>
          <a:p>
            <a:pPr marL="285750" marR="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Arial"/>
              <a:buChar char="•"/>
            </a:pPr>
            <a:r>
              <a:rPr lang="en-US" sz="1400" b="1" i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Secondary details (e.g., alternate routes, ETA) are placed in less visually dominant areas</a:t>
            </a:r>
            <a:r>
              <a:rPr lang="en-US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like sidebars or smaller text.</a:t>
            </a:r>
            <a:endParaRPr dirty="0"/>
          </a:p>
          <a:p>
            <a:pPr marL="285750" marR="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Arial"/>
              <a:buChar char="•"/>
            </a:pPr>
            <a:r>
              <a:rPr lang="en-US" sz="1400" b="1" i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Use contrast (color, size, and font weight) to highlight critical stimuli</a:t>
            </a:r>
            <a:r>
              <a:rPr lang="en-US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such as the next turn or alerts like "Accident Ahead.“</a:t>
            </a:r>
            <a:endParaRPr dirty="0"/>
          </a:p>
          <a:p>
            <a:pPr marL="285750" marR="0" lvl="0" indent="-196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Arial"/>
              <a:buChar char="•"/>
            </a:pPr>
            <a:r>
              <a:rPr lang="en-US" sz="1400" b="1" i="1" dirty="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Ensure less relevant information is visually subdued</a:t>
            </a:r>
            <a:r>
              <a:rPr lang="en-US" sz="14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guiding the user's focus naturally.</a:t>
            </a:r>
            <a:endParaRPr sz="14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800" y="1921026"/>
            <a:ext cx="2563900" cy="464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5"/>
          <p:cNvSpPr/>
          <p:nvPr/>
        </p:nvSpPr>
        <p:spPr>
          <a:xfrm>
            <a:off x="814225" y="2213650"/>
            <a:ext cx="370200" cy="278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26875" y="1893025"/>
            <a:ext cx="2415608" cy="464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" grpId="0"/>
      <p:bldP spid="177" grpId="0"/>
      <p:bldP spid="17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1cf6e6c90e_0_0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Concept of Chunking 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1cf6e6c90e_0_0"/>
          <p:cNvSpPr txBox="1">
            <a:spLocks noGrp="1"/>
          </p:cNvSpPr>
          <p:nvPr>
            <p:ph type="body" idx="1"/>
          </p:nvPr>
        </p:nvSpPr>
        <p:spPr>
          <a:xfrm>
            <a:off x="1111667" y="789868"/>
            <a:ext cx="10519200" cy="48720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b="1" i="1">
                <a:latin typeface="Calibri"/>
                <a:ea typeface="Calibri"/>
                <a:cs typeface="Calibri"/>
                <a:sym typeface="Calibri"/>
              </a:rPr>
              <a:t>Chunking is a memory technique that involves breaking down large amounts of information into smaller, more manageable units called chunks which makes it easier to retain information in the short-term memory.</a:t>
            </a:r>
            <a:endParaRPr/>
          </a:p>
        </p:txBody>
      </p:sp>
      <p:pic>
        <p:nvPicPr>
          <p:cNvPr id="187" name="Google Shape;187;g31cf6e6c90e_0_0" descr="Memory - Free miscellaneous ic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7332" y="781010"/>
            <a:ext cx="495968" cy="49596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1cf6e6c90e_0_0"/>
          <p:cNvSpPr txBox="1"/>
          <p:nvPr/>
        </p:nvSpPr>
        <p:spPr>
          <a:xfrm>
            <a:off x="0" y="1378578"/>
            <a:ext cx="12192000" cy="262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case of Chunking theory in our app</a:t>
            </a:r>
            <a:endParaRPr/>
          </a:p>
        </p:txBody>
      </p:sp>
      <p:grpSp>
        <p:nvGrpSpPr>
          <p:cNvPr id="189" name="Google Shape;189;g31cf6e6c90e_0_0"/>
          <p:cNvGrpSpPr/>
          <p:nvPr/>
        </p:nvGrpSpPr>
        <p:grpSpPr>
          <a:xfrm>
            <a:off x="-996781" y="4523534"/>
            <a:ext cx="4641000" cy="1057538"/>
            <a:chOff x="-559416" y="2109243"/>
            <a:chExt cx="4641000" cy="1057538"/>
          </a:xfrm>
        </p:grpSpPr>
        <p:sp>
          <p:nvSpPr>
            <p:cNvPr id="190" name="Google Shape;190;g31cf6e6c90e_0_0"/>
            <p:cNvSpPr txBox="1"/>
            <p:nvPr/>
          </p:nvSpPr>
          <p:spPr>
            <a:xfrm>
              <a:off x="-559416" y="2109243"/>
              <a:ext cx="4641000" cy="24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George Miller's chunking theory </a:t>
              </a:r>
              <a:endParaRPr/>
            </a:p>
          </p:txBody>
        </p:sp>
        <p:sp>
          <p:nvSpPr>
            <p:cNvPr id="191" name="Google Shape;191;g31cf6e6c90e_0_0"/>
            <p:cNvSpPr/>
            <p:nvPr/>
          </p:nvSpPr>
          <p:spPr>
            <a:xfrm>
              <a:off x="559508" y="2306981"/>
              <a:ext cx="2504700" cy="8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 based on the idea that short-term memory can hold between </a:t>
              </a:r>
              <a:r>
                <a:rPr lang="en-US" sz="14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5 and 9</a:t>
              </a:r>
              <a:r>
                <a:rPr lang="en-US" sz="14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chunks of information.</a:t>
              </a: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g31cf6e6c90e_0_0"/>
          <p:cNvGrpSpPr/>
          <p:nvPr/>
        </p:nvGrpSpPr>
        <p:grpSpPr>
          <a:xfrm>
            <a:off x="158566" y="2369251"/>
            <a:ext cx="2442000" cy="1979070"/>
            <a:chOff x="636086" y="2620804"/>
            <a:chExt cx="2442000" cy="1979070"/>
          </a:xfrm>
        </p:grpSpPr>
        <p:pic>
          <p:nvPicPr>
            <p:cNvPr id="193" name="Google Shape;193;g31cf6e6c90e_0_0" descr="7 - Free education icons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661136" y="3050598"/>
              <a:ext cx="391757" cy="39175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g31cf6e6c90e_0_0"/>
            <p:cNvSpPr txBox="1"/>
            <p:nvPr/>
          </p:nvSpPr>
          <p:spPr>
            <a:xfrm>
              <a:off x="636086" y="2620804"/>
              <a:ext cx="2442000" cy="29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magical number</a:t>
              </a:r>
              <a:endParaRPr dirty="0"/>
            </a:p>
          </p:txBody>
        </p:sp>
        <p:sp>
          <p:nvSpPr>
            <p:cNvPr id="195" name="Google Shape;195;g31cf6e6c90e_0_0"/>
            <p:cNvSpPr txBox="1"/>
            <p:nvPr/>
          </p:nvSpPr>
          <p:spPr>
            <a:xfrm>
              <a:off x="1557438" y="3395387"/>
              <a:ext cx="5259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g31cf6e6c90e_0_0"/>
            <p:cNvSpPr txBox="1"/>
            <p:nvPr/>
          </p:nvSpPr>
          <p:spPr>
            <a:xfrm>
              <a:off x="1557438" y="3704316"/>
              <a:ext cx="5259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1cf6e6c90e_0_0"/>
            <p:cNvSpPr txBox="1"/>
            <p:nvPr/>
          </p:nvSpPr>
          <p:spPr>
            <a:xfrm>
              <a:off x="1557438" y="4093774"/>
              <a:ext cx="525900" cy="506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200"/>
                <a:buFont typeface="Arial"/>
                <a:buNone/>
              </a:pPr>
              <a:r>
                <a:rPr lang="en-US" sz="32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g31cf6e6c90e_0_0"/>
          <p:cNvSpPr/>
          <p:nvPr/>
        </p:nvSpPr>
        <p:spPr>
          <a:xfrm>
            <a:off x="7776052" y="3102602"/>
            <a:ext cx="43050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sz="1400" b="0" i="0" u="non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App 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displays a list of recently searched locations. Users don’t need to recall previously searched addresses; they can simply select them from the list.</a:t>
            </a:r>
            <a:endParaRPr dirty="0"/>
          </a:p>
        </p:txBody>
      </p:sp>
      <p:sp>
        <p:nvSpPr>
          <p:cNvPr id="199" name="Google Shape;199;g31cf6e6c90e_0_0"/>
          <p:cNvSpPr/>
          <p:nvPr/>
        </p:nvSpPr>
        <p:spPr>
          <a:xfrm>
            <a:off x="7802881" y="1684532"/>
            <a:ext cx="43890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used </a:t>
            </a:r>
            <a:r>
              <a:rPr lang="en-US" sz="1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recognition instead of recall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that's why we heavily used icons and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colours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such a way that the user </a:t>
            </a:r>
            <a:r>
              <a:rPr lang="en-US" sz="14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recognises</a:t>
            </a:r>
            <a:r>
              <a:rPr lang="en-US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our features quickly and easily.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g31cf6e6c90e_0_0"/>
          <p:cNvSpPr/>
          <p:nvPr/>
        </p:nvSpPr>
        <p:spPr>
          <a:xfrm>
            <a:off x="7731761" y="2581425"/>
            <a:ext cx="4308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Examples of where we have used this usability principle</a:t>
            </a:r>
            <a:endParaRPr/>
          </a:p>
        </p:txBody>
      </p:sp>
      <p:sp>
        <p:nvSpPr>
          <p:cNvPr id="201" name="Google Shape;201;g31cf6e6c90e_0_0"/>
          <p:cNvSpPr/>
          <p:nvPr/>
        </p:nvSpPr>
        <p:spPr>
          <a:xfrm>
            <a:off x="7776053" y="2909721"/>
            <a:ext cx="1392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Recent Searches</a:t>
            </a:r>
            <a:endParaRPr/>
          </a:p>
        </p:txBody>
      </p:sp>
      <p:sp>
        <p:nvSpPr>
          <p:cNvPr id="202" name="Google Shape;202;g31cf6e6c90e_0_0"/>
          <p:cNvSpPr/>
          <p:nvPr/>
        </p:nvSpPr>
        <p:spPr>
          <a:xfrm>
            <a:off x="7776053" y="3852094"/>
            <a:ext cx="1131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Saved Places</a:t>
            </a:r>
            <a:endParaRPr dirty="0"/>
          </a:p>
        </p:txBody>
      </p:sp>
      <p:sp>
        <p:nvSpPr>
          <p:cNvPr id="203" name="Google Shape;203;g31cf6e6c90e_0_0"/>
          <p:cNvSpPr/>
          <p:nvPr/>
        </p:nvSpPr>
        <p:spPr>
          <a:xfrm>
            <a:off x="7776053" y="5013151"/>
            <a:ext cx="247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Color-Coded Traffic and Routes</a:t>
            </a:r>
            <a:endParaRPr/>
          </a:p>
        </p:txBody>
      </p:sp>
      <p:sp>
        <p:nvSpPr>
          <p:cNvPr id="204" name="Google Shape;204;g31cf6e6c90e_0_0"/>
          <p:cNvSpPr/>
          <p:nvPr/>
        </p:nvSpPr>
        <p:spPr>
          <a:xfrm>
            <a:off x="7776052" y="4056602"/>
            <a:ext cx="43143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Places marked as "Favourites," "Work," or "Home" are visually represented with icons or labels on the map. Users can recognize these spots without re-entering their addresses.</a:t>
            </a:r>
            <a:endParaRPr/>
          </a:p>
        </p:txBody>
      </p:sp>
      <p:sp>
        <p:nvSpPr>
          <p:cNvPr id="205" name="Google Shape;205;g31cf6e6c90e_0_0"/>
          <p:cNvSpPr/>
          <p:nvPr/>
        </p:nvSpPr>
        <p:spPr>
          <a:xfrm>
            <a:off x="7776052" y="5276177"/>
            <a:ext cx="43050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Traffic conditions are indicated with recognizable colour codes (e.g., green for free flow, red for heavy traffic). Users instantly understand the situation without needing to interpret detailed text.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6" name="Google Shape;206;g31cf6e6c90e_0_0"/>
          <p:cNvGrpSpPr/>
          <p:nvPr/>
        </p:nvGrpSpPr>
        <p:grpSpPr>
          <a:xfrm>
            <a:off x="2508121" y="1684532"/>
            <a:ext cx="5251539" cy="5142144"/>
            <a:chOff x="2457245" y="1704851"/>
            <a:chExt cx="5251539" cy="5142144"/>
          </a:xfrm>
        </p:grpSpPr>
        <p:pic>
          <p:nvPicPr>
            <p:cNvPr id="207" name="Google Shape;207;g31cf6e6c90e_0_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457245" y="1704851"/>
              <a:ext cx="2734515" cy="5142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8" name="Google Shape;208;g31cf6e6c90e_0_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5040752" y="1755409"/>
              <a:ext cx="2668032" cy="50111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9" name="Google Shape;209;g31cf6e6c90e_0_0"/>
          <p:cNvSpPr txBox="1"/>
          <p:nvPr/>
        </p:nvSpPr>
        <p:spPr>
          <a:xfrm>
            <a:off x="0" y="601088"/>
            <a:ext cx="12192000" cy="64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g31cf6e6c90e_0_0"/>
          <p:cNvSpPr/>
          <p:nvPr/>
        </p:nvSpPr>
        <p:spPr>
          <a:xfrm>
            <a:off x="2744922" y="2409945"/>
            <a:ext cx="2205000" cy="2121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1cf6e6c90e_0_0"/>
          <p:cNvSpPr/>
          <p:nvPr/>
        </p:nvSpPr>
        <p:spPr>
          <a:xfrm>
            <a:off x="2744922" y="2766845"/>
            <a:ext cx="2205000" cy="1227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1cf6e6c90e_0_0"/>
          <p:cNvSpPr/>
          <p:nvPr/>
        </p:nvSpPr>
        <p:spPr>
          <a:xfrm>
            <a:off x="5323117" y="2360271"/>
            <a:ext cx="2205000" cy="18156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Post Completion Error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"/>
          <p:cNvSpPr txBox="1">
            <a:spLocks noGrp="1"/>
          </p:cNvSpPr>
          <p:nvPr>
            <p:ph type="body" idx="1"/>
          </p:nvPr>
        </p:nvSpPr>
        <p:spPr>
          <a:xfrm>
            <a:off x="37750" y="782957"/>
            <a:ext cx="12123900" cy="4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b="1" i="1">
                <a:latin typeface="Calibri"/>
                <a:ea typeface="Calibri"/>
                <a:cs typeface="Calibri"/>
                <a:sym typeface="Calibri"/>
              </a:rPr>
              <a:t>Post-completion error is an error where a user misses the steps of a task that are not directly related to the goal and have to be completed after the goal has been reached.</a:t>
            </a:r>
            <a:endParaRPr/>
          </a:p>
        </p:txBody>
      </p:sp>
      <p:sp>
        <p:nvSpPr>
          <p:cNvPr id="219" name="Google Shape;219;p3"/>
          <p:cNvSpPr txBox="1"/>
          <p:nvPr/>
        </p:nvSpPr>
        <p:spPr>
          <a:xfrm>
            <a:off x="0" y="1236338"/>
            <a:ext cx="12192000" cy="2622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Possible Post Completion Error Example in our App</a:t>
            </a:r>
            <a:endParaRPr/>
          </a:p>
        </p:txBody>
      </p:sp>
      <p:sp>
        <p:nvSpPr>
          <p:cNvPr id="220" name="Google Shape;220;p3"/>
          <p:cNvSpPr/>
          <p:nvPr/>
        </p:nvSpPr>
        <p:spPr>
          <a:xfrm>
            <a:off x="1785181" y="5322389"/>
            <a:ext cx="862163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This problem arises because users focus on their primary task (reaching the destination) and may not pay attention to secondary tasks (stopping the navigation).</a:t>
            </a:r>
            <a:endParaRPr sz="1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"/>
          <p:cNvSpPr txBox="1"/>
          <p:nvPr/>
        </p:nvSpPr>
        <p:spPr>
          <a:xfrm>
            <a:off x="4625065" y="1634255"/>
            <a:ext cx="2941871" cy="275825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“Forgetting to End Navigation”</a:t>
            </a:r>
            <a:endParaRPr/>
          </a:p>
        </p:txBody>
      </p:sp>
      <p:sp>
        <p:nvSpPr>
          <p:cNvPr id="222" name="Google Shape;222;p3"/>
          <p:cNvSpPr/>
          <p:nvPr/>
        </p:nvSpPr>
        <p:spPr>
          <a:xfrm>
            <a:off x="931905" y="1997873"/>
            <a:ext cx="1032819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users reach their destination while using Our App or a navigation app, they may forget to manually stop the navigation.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oversight leads to the app continuing to track their location, reroute if they move, and display directions unnecessarily.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3"/>
          <p:cNvGrpSpPr/>
          <p:nvPr/>
        </p:nvGrpSpPr>
        <p:grpSpPr>
          <a:xfrm>
            <a:off x="931749" y="2904716"/>
            <a:ext cx="10328503" cy="2034049"/>
            <a:chOff x="1129876" y="2904716"/>
            <a:chExt cx="10328503" cy="2034049"/>
          </a:xfrm>
        </p:grpSpPr>
        <p:sp>
          <p:nvSpPr>
            <p:cNvPr id="224" name="Google Shape;224;p3"/>
            <p:cNvSpPr txBox="1"/>
            <p:nvPr/>
          </p:nvSpPr>
          <p:spPr>
            <a:xfrm>
              <a:off x="3594849" y="2904716"/>
              <a:ext cx="4641078" cy="2435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b="1" u="sng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Consequences</a:t>
              </a:r>
              <a:endParaRPr dirty="0"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1383119" y="3760506"/>
              <a:ext cx="1317155" cy="313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1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Battery Drain</a:t>
              </a:r>
              <a:endParaRPr dirty="0"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7250353" y="3760506"/>
              <a:ext cx="1024127" cy="286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Usage</a:t>
              </a: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4138161" y="3760506"/>
              <a:ext cx="1674305" cy="286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Resource Utilization</a:t>
              </a: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9712367" y="3760506"/>
              <a:ext cx="1388905" cy="2862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rPr lang="en-US" sz="14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User Frustration</a:t>
              </a:r>
              <a:endParaRPr/>
            </a:p>
          </p:txBody>
        </p:sp>
        <p:sp>
          <p:nvSpPr>
            <p:cNvPr id="229" name="Google Shape;229;p3"/>
            <p:cNvSpPr/>
            <p:nvPr/>
          </p:nvSpPr>
          <p:spPr>
            <a:xfrm>
              <a:off x="1129876" y="3984658"/>
              <a:ext cx="1823639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GPS and other location services consume significant power.</a:t>
              </a:r>
              <a:endParaRPr dirty="0"/>
            </a:p>
          </p:txBody>
        </p:sp>
        <p:sp>
          <p:nvSpPr>
            <p:cNvPr id="230" name="Google Shape;230;p3"/>
            <p:cNvSpPr/>
            <p:nvPr/>
          </p:nvSpPr>
          <p:spPr>
            <a:xfrm>
              <a:off x="3903772" y="3984658"/>
              <a:ext cx="21469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Apps often rely on real-time data to update traffic and routes, consuming mobile data.</a:t>
              </a:r>
              <a:endParaRPr/>
            </a:p>
          </p:txBody>
        </p:sp>
        <p:sp>
          <p:nvSpPr>
            <p:cNvPr id="231" name="Google Shape;231;p3"/>
            <p:cNvSpPr/>
            <p:nvPr/>
          </p:nvSpPr>
          <p:spPr>
            <a:xfrm>
              <a:off x="6724266" y="3984658"/>
              <a:ext cx="2076299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The device's processing resources remain engaged, possibly slowing other functions.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3"/>
            <p:cNvSpPr/>
            <p:nvPr/>
          </p:nvSpPr>
          <p:spPr>
            <a:xfrm>
              <a:off x="9355259" y="3984658"/>
              <a:ext cx="2103120" cy="9541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If left running, users might receive notifications or hear prompts when not needed.</a:t>
              </a:r>
              <a:endParaRPr/>
            </a:p>
          </p:txBody>
        </p:sp>
        <p:pic>
          <p:nvPicPr>
            <p:cNvPr id="233" name="Google Shape;233;p3" descr="Battery low - User Interface &amp; Gesture Icon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35004" y="3381050"/>
              <a:ext cx="413385" cy="41338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3" descr="mobile data Icon - Free PNG &amp; SVG 1988835 - Noun Project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817049" y="3429478"/>
              <a:ext cx="316528" cy="3165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3" descr="Low Memory Icons - Free SVG &amp; PNG Low Memory Images - Noun Projec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7565884" y="3391210"/>
              <a:ext cx="393065" cy="39306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3" descr="Frustration Icons - Free SVG &amp; PNG Frustration Images - Noun Project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208506" y="3389429"/>
              <a:ext cx="396626" cy="39662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3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Our Solution to ‘Forgetting to end navigation’ Error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4"/>
          <p:cNvSpPr/>
          <p:nvPr/>
        </p:nvSpPr>
        <p:spPr>
          <a:xfrm>
            <a:off x="931748" y="1378446"/>
            <a:ext cx="10782732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have added an easy-to-access button or swipe gesture for stopping navigation directly from the app's main screen or lock screen widget.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reduces friction for users, encouraging them to stop navigation manually.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4"/>
          <p:cNvSpPr txBox="1"/>
          <p:nvPr/>
        </p:nvSpPr>
        <p:spPr>
          <a:xfrm>
            <a:off x="4522332" y="1039041"/>
            <a:ext cx="3147337" cy="261440"/>
          </a:xfrm>
          <a:prstGeom prst="rect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US" sz="1600" b="1" i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“End Navigation Shortcut Button”</a:t>
            </a:r>
            <a:endParaRPr/>
          </a:p>
        </p:txBody>
      </p:sp>
      <p:pic>
        <p:nvPicPr>
          <p:cNvPr id="245" name="Google Shape;24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5514" y="1840706"/>
            <a:ext cx="2700972" cy="4987836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4"/>
          <p:cNvSpPr/>
          <p:nvPr/>
        </p:nvSpPr>
        <p:spPr>
          <a:xfrm>
            <a:off x="4988560" y="4704080"/>
            <a:ext cx="640080" cy="406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The Stroop Effect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 txBox="1">
            <a:spLocks noGrp="1"/>
          </p:cNvSpPr>
          <p:nvPr>
            <p:ph type="body" idx="1"/>
          </p:nvPr>
        </p:nvSpPr>
        <p:spPr>
          <a:xfrm>
            <a:off x="189124" y="789875"/>
            <a:ext cx="11809835" cy="487200"/>
          </a:xfrm>
          <a:prstGeom prst="rect">
            <a:avLst/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b="1" i="1" dirty="0">
                <a:latin typeface="Calibri"/>
                <a:ea typeface="Calibri"/>
                <a:cs typeface="Calibri"/>
                <a:sym typeface="Calibri"/>
              </a:rPr>
              <a:t>The Stroop effect was first described by American psychologist John Ridley Stroop in the 1930s.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 b="1" i="1" dirty="0">
                <a:latin typeface="Calibri"/>
                <a:ea typeface="Calibri"/>
                <a:cs typeface="Calibri"/>
                <a:sym typeface="Calibri"/>
              </a:rPr>
              <a:t>“The Stroop effect is a psychological phenomenon that describes the delay in reaction time when there is a conflict between language and color information”.</a:t>
            </a:r>
            <a:endParaRPr dirty="0"/>
          </a:p>
        </p:txBody>
      </p:sp>
      <p:sp>
        <p:nvSpPr>
          <p:cNvPr id="254" name="Google Shape;254;p6"/>
          <p:cNvSpPr txBox="1"/>
          <p:nvPr/>
        </p:nvSpPr>
        <p:spPr>
          <a:xfrm>
            <a:off x="0" y="1378578"/>
            <a:ext cx="12192000" cy="26221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US" sz="14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case of the Stroop Effect in our app</a:t>
            </a:r>
            <a:endParaRPr/>
          </a:p>
        </p:txBody>
      </p:sp>
      <p:sp>
        <p:nvSpPr>
          <p:cNvPr id="255" name="Google Shape;255;p6"/>
          <p:cNvSpPr/>
          <p:nvPr/>
        </p:nvSpPr>
        <p:spPr>
          <a:xfrm>
            <a:off x="3037841" y="1809812"/>
            <a:ext cx="126829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Color Coding</a:t>
            </a:r>
            <a:endParaRPr sz="1600" b="1" i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3037841" y="2086583"/>
            <a:ext cx="16861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Stroop Effect Insight</a:t>
            </a:r>
            <a:endParaRPr sz="14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788" y="1742393"/>
            <a:ext cx="2668032" cy="501115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6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3048000" y="2358919"/>
            <a:ext cx="86500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When a text label or object has a colour that does not match its meaning, users experience a delay in processing (e.g., the word "blue" written in red). </a:t>
            </a:r>
            <a:endParaRPr sz="14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To avoid confusion, Our App aligns the colour of map elements with their expected associations.</a:t>
            </a:r>
            <a:endParaRPr dirty="0"/>
          </a:p>
        </p:txBody>
      </p:sp>
      <p:sp>
        <p:nvSpPr>
          <p:cNvPr id="260" name="Google Shape;260;p6"/>
          <p:cNvSpPr/>
          <p:nvPr/>
        </p:nvSpPr>
        <p:spPr>
          <a:xfrm>
            <a:off x="3058616" y="3369919"/>
            <a:ext cx="254165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 in Our App</a:t>
            </a:r>
            <a:endParaRPr sz="1600" b="1" i="1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3048000" y="3662836"/>
            <a:ext cx="160091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Traffic Indicators</a:t>
            </a:r>
            <a:endParaRPr sz="1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3058616" y="3915564"/>
            <a:ext cx="882904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Traffic conditions are represented using universally understood colours.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e.g. </a:t>
            </a:r>
            <a:r>
              <a:rPr lang="en-US" sz="1400" b="1" i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for smooth traffic, </a:t>
            </a:r>
            <a:r>
              <a:rPr lang="en-US" sz="1400" b="1" i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yellow</a:t>
            </a:r>
            <a:r>
              <a:rPr lang="en-US" sz="1400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moderate, and </a:t>
            </a:r>
            <a:r>
              <a:rPr lang="en-US" sz="14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</a:t>
            </a:r>
            <a:r>
              <a:rPr lang="en-US" sz="14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for heavy. 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minimizes cognitive dissonance and ensures users quickly interpret the information.</a:t>
            </a:r>
            <a:endParaRPr/>
          </a:p>
        </p:txBody>
      </p:sp>
      <p:sp>
        <p:nvSpPr>
          <p:cNvPr id="263" name="Google Shape;263;p6"/>
          <p:cNvSpPr/>
          <p:nvPr/>
        </p:nvSpPr>
        <p:spPr>
          <a:xfrm>
            <a:off x="3058615" y="4623524"/>
            <a:ext cx="19577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Landmarks and Terrain</a:t>
            </a:r>
            <a:endParaRPr sz="14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3069232" y="4876252"/>
            <a:ext cx="691850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400"/>
              <a:buFont typeface="Arial"/>
              <a:buChar char="•"/>
            </a:pPr>
            <a:r>
              <a:rPr lang="en-US" sz="1400" b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Parks are green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400" b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water bodies are blue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</a:t>
            </a:r>
            <a:r>
              <a:rPr lang="en-US" sz="1400" b="1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roads are grey</a:t>
            </a: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black, adhering to common associations to streamline user comprehension.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4237050" y="5886044"/>
            <a:ext cx="62719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 Inconsistent cues—like a </a:t>
            </a:r>
            <a:r>
              <a:rPr lang="en-US" sz="1400" b="1" i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green</a:t>
            </a:r>
            <a:r>
              <a:rPr lang="en-US" sz="14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button labelled </a:t>
            </a:r>
            <a:r>
              <a:rPr lang="en-US" sz="1400" b="1" i="1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"Cancel"</a:t>
            </a:r>
            <a:r>
              <a:rPr lang="en-US" sz="1400" b="1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r>
              <a:rPr lang="en-US" sz="1400" b="1" i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can cause hesitation “</a:t>
            </a:r>
            <a:endParaRPr sz="1800" b="1" i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792480" y="3841568"/>
            <a:ext cx="284480" cy="4064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1849119" y="3468274"/>
            <a:ext cx="375920" cy="48039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1869439" y="2553835"/>
            <a:ext cx="355600" cy="30590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To be discussed </a:t>
            </a:r>
            <a:endParaRPr sz="2800" b="1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0" y="633159"/>
            <a:ext cx="10695600" cy="4770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(display our low fidelity sketches and the brains behind it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design?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that design 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designed?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deifning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workflow ( refer to slide 23 from week 6a)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a navigation model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talk about the user stories we picked from both the personas to define the requirements of the apps which led to the features of the app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we created our flow of the app?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users/personas you will be designing your flows for?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we took both of our personas into considerations when designing the flow of our app ( primary and secondary and used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theri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user stories as an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inpiration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our app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user and business objectives need to be accomplished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the objectives were ( list of features ) and end goals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whats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the basic flow of an user when using our app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 flow chart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refering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slide 30 of week 6.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create a detailed flowchart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explaing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different tasks user can do with our app (refer slide 31)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ex. work tools sync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calendar sync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sharing location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offline maps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privacty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settings related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create a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wireflow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design and explain it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refer slide 32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represent all the info we have in a flowchart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displyed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slide 34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create a low fidelity </a:t>
            </a:r>
            <a:r>
              <a:rPr lang="en-US" sz="8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wireflow</a:t>
            </a:r>
            <a:r>
              <a:rPr lang="en-US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refer page 35</a:t>
            </a:r>
            <a:endParaRPr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DFF7FC74-6C12-8A58-5821-28F695DB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>
            <a:extLst>
              <a:ext uri="{FF2B5EF4-FFF2-40B4-BE49-F238E27FC236}">
                <a16:creationId xmlns:a16="http://schemas.microsoft.com/office/drawing/2014/main" id="{4D048912-C2BC-CEF3-100E-7E5DE82B45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User Testing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>
            <a:extLst>
              <a:ext uri="{FF2B5EF4-FFF2-40B4-BE49-F238E27FC236}">
                <a16:creationId xmlns:a16="http://schemas.microsoft.com/office/drawing/2014/main" id="{18ABBA16-6629-5851-A80D-3A0CFAFC5254}"/>
              </a:ext>
            </a:extLst>
          </p:cNvPr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>
            <a:extLst>
              <a:ext uri="{FF2B5EF4-FFF2-40B4-BE49-F238E27FC236}">
                <a16:creationId xmlns:a16="http://schemas.microsoft.com/office/drawing/2014/main" id="{D2AEFD81-A074-9866-CBC1-68BA042CB519}"/>
              </a:ext>
            </a:extLst>
          </p:cNvPr>
          <p:cNvSpPr/>
          <p:nvPr/>
        </p:nvSpPr>
        <p:spPr>
          <a:xfrm>
            <a:off x="90000" y="1086318"/>
            <a:ext cx="10695600" cy="6247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1000" b="1" dirty="0"/>
              <a:t>Purpose of the Test</a:t>
            </a:r>
          </a:p>
          <a:p>
            <a:pPr marL="228600" indent="-228600">
              <a:buAutoNum type="arabicPeriod"/>
            </a:pPr>
            <a:endParaRPr lang="en-US" sz="1000" b="1" dirty="0"/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test aims to evaluate the usability, functionality, and overall user experience of the app.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Specific goals include</a:t>
            </a:r>
          </a:p>
          <a:p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Identifying pain points in the user interface.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Testing specific features and workflows.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Checking if the system meets user needs.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Gathering feedback to prioritize improvements.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Check if our system is as good as the one we are comparing it to.</a:t>
            </a:r>
            <a:b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b="1" dirty="0"/>
              <a:t>Test Setup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developed tasks that mimic real-world use cases of the product for our users.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ensured the testing environment was conducive to focused and unbiased feedback (e.g., minimal distractions, and access to required tools).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encouraged our users to use the Think Aloud Protocol to understand their feedback better.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prepared data collection tools (notepad) to enter user inputs.</a:t>
            </a:r>
          </a:p>
          <a:p>
            <a:pPr marL="457200" lvl="1"/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Test Conduct:</a:t>
            </a:r>
          </a:p>
          <a:p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We began with an introductory session explaining the purpose of the test and assuring users that it’s the product, not their skills, being evaluated.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Guide users through the tasks, observing how they interact with the product.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Avoid offering excessive help to allow natural user behavior.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End with an extra interview post-task to gather additional feedback.</a:t>
            </a:r>
          </a:p>
          <a:p>
            <a:pPr marL="457200" lvl="1"/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IN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br>
              <a:rPr lang="en-IN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IN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2535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37C8B014-64E1-4A26-50EB-B608DE6E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>
            <a:extLst>
              <a:ext uri="{FF2B5EF4-FFF2-40B4-BE49-F238E27FC236}">
                <a16:creationId xmlns:a16="http://schemas.microsoft.com/office/drawing/2014/main" id="{54D146A5-5F36-7E31-7030-A2D755EF62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User Testing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>
            <a:extLst>
              <a:ext uri="{FF2B5EF4-FFF2-40B4-BE49-F238E27FC236}">
                <a16:creationId xmlns:a16="http://schemas.microsoft.com/office/drawing/2014/main" id="{747CD7CF-E8CC-C5EC-EFF6-6AEB2EA4C2C9}"/>
              </a:ext>
            </a:extLst>
          </p:cNvPr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>
            <a:extLst>
              <a:ext uri="{FF2B5EF4-FFF2-40B4-BE49-F238E27FC236}">
                <a16:creationId xmlns:a16="http://schemas.microsoft.com/office/drawing/2014/main" id="{4CE6C06F-65FB-413A-CFFB-8407E4E3D6A7}"/>
              </a:ext>
            </a:extLst>
          </p:cNvPr>
          <p:cNvSpPr/>
          <p:nvPr/>
        </p:nvSpPr>
        <p:spPr>
          <a:xfrm>
            <a:off x="90000" y="1086318"/>
            <a:ext cx="10695600" cy="58169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 of Data Collected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Quantitative Data: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completion rates.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taken to complete specific tasks.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Error rates or number of mistakes.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usability scale (SUS) scores.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Likert Scales</a:t>
            </a:r>
          </a:p>
          <a:p>
            <a:pPr marL="457200" lvl="1"/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Qualitative Data:</a:t>
            </a:r>
          </a:p>
          <a:p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Observations of user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behavior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(e.g., hesitation, frustration, confusion).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Verbal feedback during the test (e.g., "thinking aloud" protocol).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Open-ended feedback collected during debriefing.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b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/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r>
              <a:rPr lang="en-IN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</a:pPr>
            <a:br>
              <a:rPr lang="en-IN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IN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24070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9BDFB93C-2D37-4C44-D93A-78DA1C4C7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>
            <a:extLst>
              <a:ext uri="{FF2B5EF4-FFF2-40B4-BE49-F238E27FC236}">
                <a16:creationId xmlns:a16="http://schemas.microsoft.com/office/drawing/2014/main" id="{0ABF3AA5-3F70-61E3-1BAD-A06C256402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User Testing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>
            <a:extLst>
              <a:ext uri="{FF2B5EF4-FFF2-40B4-BE49-F238E27FC236}">
                <a16:creationId xmlns:a16="http://schemas.microsoft.com/office/drawing/2014/main" id="{93CF71D8-3CA1-2B18-5F34-58FB04FE4625}"/>
              </a:ext>
            </a:extLst>
          </p:cNvPr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>
            <a:extLst>
              <a:ext uri="{FF2B5EF4-FFF2-40B4-BE49-F238E27FC236}">
                <a16:creationId xmlns:a16="http://schemas.microsoft.com/office/drawing/2014/main" id="{65BE5B1C-E2A4-1211-83DF-D18602302F22}"/>
              </a:ext>
            </a:extLst>
          </p:cNvPr>
          <p:cNvSpPr/>
          <p:nvPr/>
        </p:nvSpPr>
        <p:spPr>
          <a:xfrm>
            <a:off x="981777" y="390544"/>
            <a:ext cx="6843563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Transcript</a:t>
            </a: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Person 1                                                                                         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Jhanvi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E-mail address: jhanvi18@gmail.com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Occupation: Freelancer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 level: Arts Graduate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literacy: Moderate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242A1E-AC46-FF9C-6A30-8CC5BEA298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7204400"/>
              </p:ext>
            </p:extLst>
          </p:nvPr>
        </p:nvGraphicFramePr>
        <p:xfrm>
          <a:off x="1247724" y="2260915"/>
          <a:ext cx="8128000" cy="4479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269">
                  <a:extLst>
                    <a:ext uri="{9D8B030D-6E8A-4147-A177-3AD203B41FA5}">
                      <a16:colId xmlns:a16="http://schemas.microsoft.com/office/drawing/2014/main" val="1649933809"/>
                    </a:ext>
                  </a:extLst>
                </a:gridCol>
                <a:gridCol w="6960731">
                  <a:extLst>
                    <a:ext uri="{9D8B030D-6E8A-4147-A177-3AD203B41FA5}">
                      <a16:colId xmlns:a16="http://schemas.microsoft.com/office/drawing/2014/main" val="3613738036"/>
                    </a:ext>
                  </a:extLst>
                </a:gridCol>
              </a:tblGrid>
              <a:tr h="365379">
                <a:tc>
                  <a:txBody>
                    <a:bodyPr/>
                    <a:lstStyle/>
                    <a:p>
                      <a:r>
                        <a:rPr lang="en-IN" sz="1200" dirty="0"/>
                        <a:t>19:00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 of the user </a:t>
                      </a:r>
                    </a:p>
                    <a:p>
                      <a:r>
                        <a:rPr lang="en-IN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Reading task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596574"/>
                  </a:ext>
                </a:extLst>
              </a:tr>
              <a:tr h="3778913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19:06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19:07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19:09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19:10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 on the search tab and search “Hendon Central Station” in the recent section.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“This design and options are very familiar to what I use in my day-to-day life, easy to navigate”</a:t>
                      </a:r>
                    </a:p>
                    <a:p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Clicks on Hendon Central Station and looks through the options provided.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“I like how you gave multiple modes of transportation, but I can’t see any bus option as I like to travel by bus,</a:t>
                      </a:r>
                      <a:b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your app is showing me how much time I’ll take which is great, and also I appreciate it shows me if I have any traffic on my way “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Clicks ‘best route’ option and starts navigation.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“Great transitions but I’d like a zoom-in on my current location as I would like to see the turns I need to make.”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Stop the navigation by clicking the end shortcut button.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“I would like to see a notification on the app telling me that I have reached, but I like how the app has given extra information about Hendon Central Station at the bottom.”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Clicks the cross arrow and returns back to home </a:t>
                      </a:r>
                    </a:p>
                    <a:p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“That was simple and easy to navigate</a:t>
                      </a: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.”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474253"/>
                  </a:ext>
                </a:extLst>
              </a:tr>
              <a:tr h="146730">
                <a:tc>
                  <a:txBody>
                    <a:bodyPr/>
                    <a:lstStyle/>
                    <a:p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-1 finished Successfully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2529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84C4C0-EDFE-C1AF-7E58-9C4CACAD3086}"/>
              </a:ext>
            </a:extLst>
          </p:cNvPr>
          <p:cNvSpPr txBox="1"/>
          <p:nvPr/>
        </p:nvSpPr>
        <p:spPr>
          <a:xfrm>
            <a:off x="3840480" y="1462842"/>
            <a:ext cx="3861396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description </a:t>
            </a:r>
            <a:r>
              <a:rPr lang="en-IN" dirty="0"/>
              <a:t>– </a:t>
            </a:r>
            <a:r>
              <a:rPr lang="en-IN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Navigate to Hendon Central Station by car from the home page.</a:t>
            </a:r>
          </a:p>
        </p:txBody>
      </p:sp>
    </p:spTree>
    <p:extLst>
      <p:ext uri="{BB962C8B-B14F-4D97-AF65-F5344CB8AC3E}">
        <p14:creationId xmlns:p14="http://schemas.microsoft.com/office/powerpoint/2010/main" val="1992015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4A6C783C-12BC-3E8C-D1CB-E84F33DB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>
            <a:extLst>
              <a:ext uri="{FF2B5EF4-FFF2-40B4-BE49-F238E27FC236}">
                <a16:creationId xmlns:a16="http://schemas.microsoft.com/office/drawing/2014/main" id="{A9CBAFD4-E8A9-BDB7-BBDB-7D85F4487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User Testing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>
            <a:extLst>
              <a:ext uri="{FF2B5EF4-FFF2-40B4-BE49-F238E27FC236}">
                <a16:creationId xmlns:a16="http://schemas.microsoft.com/office/drawing/2014/main" id="{020AF16E-2CFA-BD29-E2CD-6AE9493F0000}"/>
              </a:ext>
            </a:extLst>
          </p:cNvPr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>
            <a:extLst>
              <a:ext uri="{FF2B5EF4-FFF2-40B4-BE49-F238E27FC236}">
                <a16:creationId xmlns:a16="http://schemas.microsoft.com/office/drawing/2014/main" id="{41324EA5-E9BD-943F-D830-18C772E699E5}"/>
              </a:ext>
            </a:extLst>
          </p:cNvPr>
          <p:cNvSpPr/>
          <p:nvPr/>
        </p:nvSpPr>
        <p:spPr>
          <a:xfrm>
            <a:off x="981777" y="390544"/>
            <a:ext cx="6843563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Transcript</a:t>
            </a: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Person 1                                                                                         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Mohammed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E-mail address: moali676@gmail.com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Occupation: Lawyer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 level: Law Graduate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literacy: Advanced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518F32-790A-6923-F5CE-106DC03FA7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405823"/>
              </p:ext>
            </p:extLst>
          </p:nvPr>
        </p:nvGraphicFramePr>
        <p:xfrm>
          <a:off x="1247724" y="2260915"/>
          <a:ext cx="8128000" cy="44799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269">
                  <a:extLst>
                    <a:ext uri="{9D8B030D-6E8A-4147-A177-3AD203B41FA5}">
                      <a16:colId xmlns:a16="http://schemas.microsoft.com/office/drawing/2014/main" val="1649933809"/>
                    </a:ext>
                  </a:extLst>
                </a:gridCol>
                <a:gridCol w="6960731">
                  <a:extLst>
                    <a:ext uri="{9D8B030D-6E8A-4147-A177-3AD203B41FA5}">
                      <a16:colId xmlns:a16="http://schemas.microsoft.com/office/drawing/2014/main" val="3613738036"/>
                    </a:ext>
                  </a:extLst>
                </a:gridCol>
              </a:tblGrid>
              <a:tr h="365379">
                <a:tc>
                  <a:txBody>
                    <a:bodyPr/>
                    <a:lstStyle/>
                    <a:p>
                      <a:r>
                        <a:rPr lang="en-IN" sz="1200" dirty="0"/>
                        <a:t>19:00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 of the user </a:t>
                      </a:r>
                    </a:p>
                    <a:p>
                      <a:r>
                        <a:rPr lang="en-IN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Reading task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596574"/>
                  </a:ext>
                </a:extLst>
              </a:tr>
              <a:tr h="3778913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19:06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19:07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19:09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19:10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 on the search tab and search “Honest Burgers” in the recent section.</a:t>
                      </a:r>
                    </a:p>
                    <a:p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IN" sz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Clicks on Hendon Central Station and looks through the options provided.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Clicks ‘best route’ option and starts navigation.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Stop the navigation by clicking the end shortcut button.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Clicks the cross arrow and returns to home </a:t>
                      </a:r>
                    </a:p>
                    <a:p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474253"/>
                  </a:ext>
                </a:extLst>
              </a:tr>
              <a:tr h="146730">
                <a:tc>
                  <a:txBody>
                    <a:bodyPr/>
                    <a:lstStyle/>
                    <a:p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-1 finished Successfully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2529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06507DF-0788-0F09-A206-D8D69404E934}"/>
              </a:ext>
            </a:extLst>
          </p:cNvPr>
          <p:cNvSpPr txBox="1"/>
          <p:nvPr/>
        </p:nvSpPr>
        <p:spPr>
          <a:xfrm>
            <a:off x="3840480" y="1462842"/>
            <a:ext cx="386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description </a:t>
            </a:r>
            <a:r>
              <a:rPr lang="en-IN" dirty="0"/>
              <a:t>–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Navigate to Honest Burgers by car from the home page.</a:t>
            </a:r>
            <a:r>
              <a:rPr lang="en-IN" dirty="0"/>
              <a:t> 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760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>
          <a:extLst>
            <a:ext uri="{FF2B5EF4-FFF2-40B4-BE49-F238E27FC236}">
              <a16:creationId xmlns:a16="http://schemas.microsoft.com/office/drawing/2014/main" id="{EA56A983-3C34-A42E-E85A-BAA2A88E3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>
            <a:extLst>
              <a:ext uri="{FF2B5EF4-FFF2-40B4-BE49-F238E27FC236}">
                <a16:creationId xmlns:a16="http://schemas.microsoft.com/office/drawing/2014/main" id="{89B22436-4CDA-BF10-E61B-6C6FA4A2F3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0000" y="180000"/>
            <a:ext cx="10515600" cy="421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lang="en-US" sz="2800" b="1" dirty="0">
                <a:solidFill>
                  <a:srgbClr val="002060"/>
                </a:solidFill>
              </a:rPr>
              <a:t>User Testing</a:t>
            </a:r>
            <a:endParaRPr sz="2800" b="1" dirty="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>
            <a:extLst>
              <a:ext uri="{FF2B5EF4-FFF2-40B4-BE49-F238E27FC236}">
                <a16:creationId xmlns:a16="http://schemas.microsoft.com/office/drawing/2014/main" id="{394B3F38-DBE7-5334-65D3-5E1ADE81EA1B}"/>
              </a:ext>
            </a:extLst>
          </p:cNvPr>
          <p:cNvSpPr txBox="1"/>
          <p:nvPr/>
        </p:nvSpPr>
        <p:spPr>
          <a:xfrm>
            <a:off x="0" y="601088"/>
            <a:ext cx="12192000" cy="6414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4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>
            <a:extLst>
              <a:ext uri="{FF2B5EF4-FFF2-40B4-BE49-F238E27FC236}">
                <a16:creationId xmlns:a16="http://schemas.microsoft.com/office/drawing/2014/main" id="{6E1E4574-2CB3-4076-DAD0-C5F08B65BF01}"/>
              </a:ext>
            </a:extLst>
          </p:cNvPr>
          <p:cNvSpPr/>
          <p:nvPr/>
        </p:nvSpPr>
        <p:spPr>
          <a:xfrm>
            <a:off x="981777" y="390544"/>
            <a:ext cx="6843563" cy="172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Transcript</a:t>
            </a:r>
          </a:p>
          <a:p>
            <a:r>
              <a:rPr lang="en-US" sz="1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Test Person 5                                                                                        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Name: Richard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E-mail address: Rich29@gmail.com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Occupation: Software Engineer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Education level: </a:t>
            </a:r>
            <a:r>
              <a:rPr lang="en-US" sz="1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Bsc</a:t>
            </a: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Computer Science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Computer literacy: Advanced</a:t>
            </a:r>
            <a:b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B3B895A-956A-F66D-72FA-3C2AA1DED0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3896038"/>
              </p:ext>
            </p:extLst>
          </p:nvPr>
        </p:nvGraphicFramePr>
        <p:xfrm>
          <a:off x="1247724" y="2260915"/>
          <a:ext cx="8128000" cy="463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7269">
                  <a:extLst>
                    <a:ext uri="{9D8B030D-6E8A-4147-A177-3AD203B41FA5}">
                      <a16:colId xmlns:a16="http://schemas.microsoft.com/office/drawing/2014/main" val="1649933809"/>
                    </a:ext>
                  </a:extLst>
                </a:gridCol>
                <a:gridCol w="6960731">
                  <a:extLst>
                    <a:ext uri="{9D8B030D-6E8A-4147-A177-3AD203B41FA5}">
                      <a16:colId xmlns:a16="http://schemas.microsoft.com/office/drawing/2014/main" val="3613738036"/>
                    </a:ext>
                  </a:extLst>
                </a:gridCol>
              </a:tblGrid>
              <a:tr h="365379">
                <a:tc>
                  <a:txBody>
                    <a:bodyPr/>
                    <a:lstStyle/>
                    <a:p>
                      <a:r>
                        <a:rPr lang="en-IN" sz="1200" dirty="0"/>
                        <a:t>19:00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Introduction of the user </a:t>
                      </a:r>
                    </a:p>
                    <a:p>
                      <a:r>
                        <a:rPr lang="en-IN" sz="1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Reading task description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596574"/>
                  </a:ext>
                </a:extLst>
              </a:tr>
              <a:tr h="3778913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19:06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19:07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19:09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19:10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 on the Sidebar tab next you will look through five option.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“The option seems bit different and complicated as compared to other maps”</a:t>
                      </a:r>
                    </a:p>
                    <a:p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 on Privacy and look through the options provided.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“I feel like there are too many steps for sharing location, there should be direct option.”</a:t>
                      </a:r>
                    </a:p>
                    <a:p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 on Location Sharing Option and it will take you to the Contacts suggestion.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“This is easy and very familiar to me and it also gives close contacts suggestion so I don’t need to go through all my contact list it also gives option how long I want to share my location for, which is far better from other apps. ”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 on the Person you want to share location with (Mom) and click share.</a:t>
                      </a: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“Easy to share location but too many steps ”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Clicks on the Back arow to returns Home.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“Easy to navigate back ”</a:t>
                      </a:r>
                    </a:p>
                    <a:p>
                      <a:br>
                        <a:rPr lang="en-IN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endParaRPr lang="en-IN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9474253"/>
                  </a:ext>
                </a:extLst>
              </a:tr>
              <a:tr h="146730">
                <a:tc>
                  <a:txBody>
                    <a:bodyPr/>
                    <a:lstStyle/>
                    <a:p>
                      <a:r>
                        <a:rPr lang="en-IN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19:12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Task -5 finished Successfully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625295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B492DB1-3D96-478D-5DA5-825B103FC736}"/>
              </a:ext>
            </a:extLst>
          </p:cNvPr>
          <p:cNvSpPr txBox="1"/>
          <p:nvPr/>
        </p:nvSpPr>
        <p:spPr>
          <a:xfrm>
            <a:off x="3840480" y="1462842"/>
            <a:ext cx="3861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description </a:t>
            </a:r>
            <a:r>
              <a:rPr lang="en-IN" dirty="0"/>
              <a:t>– Share Location with your Mom</a:t>
            </a:r>
            <a:endParaRPr lang="en-IN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031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3421</Words>
  <Application>Microsoft Macintosh PowerPoint</Application>
  <PresentationFormat>Widescreen</PresentationFormat>
  <Paragraphs>334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Navigation App</vt:lpstr>
      <vt:lpstr>Overview</vt:lpstr>
      <vt:lpstr>Design Process</vt:lpstr>
      <vt:lpstr>Design Process</vt:lpstr>
      <vt:lpstr>Design Process</vt:lpstr>
      <vt:lpstr>Transition from Low Fidelity to High Fidelity Design</vt:lpstr>
      <vt:lpstr>Transition from Low Fidelity to High Fidelity Design</vt:lpstr>
      <vt:lpstr>Design Decisions Made</vt:lpstr>
      <vt:lpstr>Design Guidelines Followed</vt:lpstr>
      <vt:lpstr>Design Patterns Used</vt:lpstr>
      <vt:lpstr>Design Decisions and Guidelines</vt:lpstr>
      <vt:lpstr>Concept of Chunking </vt:lpstr>
      <vt:lpstr>Post Completion Error</vt:lpstr>
      <vt:lpstr>Our Solution to ‘Forgetting to end navigation’ Error</vt:lpstr>
      <vt:lpstr>The Stroop Effect</vt:lpstr>
      <vt:lpstr>To be discussed </vt:lpstr>
      <vt:lpstr>User Testing</vt:lpstr>
      <vt:lpstr>User Testing</vt:lpstr>
      <vt:lpstr>User Testing</vt:lpstr>
      <vt:lpstr>User Testing</vt:lpstr>
      <vt:lpstr>User Testing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Navigation App</dc:title>
  <dc:creator>Microsoft account</dc:creator>
  <cp:lastModifiedBy>Shreyas Bobade</cp:lastModifiedBy>
  <cp:revision>33</cp:revision>
  <dcterms:created xsi:type="dcterms:W3CDTF">2024-12-07T18:36:20Z</dcterms:created>
  <dcterms:modified xsi:type="dcterms:W3CDTF">2024-12-08T22:57:47Z</dcterms:modified>
</cp:coreProperties>
</file>